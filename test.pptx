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93" r:id="rId3"/>
    <p:sldId id="427" r:id="rId4"/>
    <p:sldId id="465" r:id="rId5"/>
    <p:sldId id="467" r:id="rId6"/>
    <p:sldId id="466" r:id="rId7"/>
    <p:sldId id="468" r:id="rId8"/>
    <p:sldId id="469" r:id="rId9"/>
    <p:sldId id="470" r:id="rId10"/>
    <p:sldId id="471" r:id="rId11"/>
    <p:sldId id="472" r:id="rId12"/>
    <p:sldId id="473" r:id="rId13"/>
    <p:sldId id="474" r:id="rId14"/>
    <p:sldId id="475" r:id="rId15"/>
    <p:sldId id="477" r:id="rId16"/>
    <p:sldId id="476" r:id="rId17"/>
    <p:sldId id="480" r:id="rId18"/>
    <p:sldId id="479" r:id="rId19"/>
    <p:sldId id="481" r:id="rId20"/>
    <p:sldId id="482" r:id="rId21"/>
    <p:sldId id="483" r:id="rId22"/>
    <p:sldId id="484" r:id="rId23"/>
    <p:sldId id="485" r:id="rId24"/>
    <p:sldId id="486" r:id="rId25"/>
    <p:sldId id="487" r:id="rId26"/>
    <p:sldId id="488" r:id="rId27"/>
    <p:sldId id="489" r:id="rId28"/>
    <p:sldId id="490" r:id="rId29"/>
    <p:sldId id="493" r:id="rId30"/>
    <p:sldId id="491" r:id="rId31"/>
    <p:sldId id="492" r:id="rId32"/>
    <p:sldId id="494" r:id="rId33"/>
    <p:sldId id="495" r:id="rId34"/>
    <p:sldId id="496" r:id="rId35"/>
    <p:sldId id="497" r:id="rId36"/>
    <p:sldId id="498" r:id="rId37"/>
    <p:sldId id="499" r:id="rId38"/>
    <p:sldId id="29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8CEA"/>
    <a:srgbClr val="E3707B"/>
    <a:srgbClr val="2846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1"/>
    <p:restoredTop sz="89556"/>
  </p:normalViewPr>
  <p:slideViewPr>
    <p:cSldViewPr snapToGrid="0" snapToObjects="1">
      <p:cViewPr varScale="1">
        <p:scale>
          <a:sx n="82" d="100"/>
          <a:sy n="82" d="100"/>
        </p:scale>
        <p:origin x="9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BF315C-6A45-DB46-A74D-B46FEE70539C}" type="datetimeFigureOut">
              <a:rPr lang="en-US" smtClean="0"/>
              <a:t>5/4/26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4C14B9-4D67-7C49-ADCC-DA1BA1CB4C79}" type="slidenum">
              <a:rPr lang="en-US" smtClean="0"/>
              <a:t>‹#›</a:t>
            </a:fld>
            <a:endParaRPr lang="en-US"/>
          </a:p>
        </p:txBody>
      </p:sp>
    </p:spTree>
    <p:extLst>
      <p:ext uri="{BB962C8B-B14F-4D97-AF65-F5344CB8AC3E}">
        <p14:creationId xmlns:p14="http://schemas.microsoft.com/office/powerpoint/2010/main" val="1855692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load indirect from 207, so we go to 202, we find 3AF6</a:t>
            </a:r>
          </a:p>
          <a:p>
            <a:endParaRPr lang="en-US" dirty="0"/>
          </a:p>
        </p:txBody>
      </p:sp>
      <p:sp>
        <p:nvSpPr>
          <p:cNvPr id="4" name="Slide Number Placeholder 3"/>
          <p:cNvSpPr>
            <a:spLocks noGrp="1"/>
          </p:cNvSpPr>
          <p:nvPr>
            <p:ph type="sldNum" sz="quarter" idx="10"/>
          </p:nvPr>
        </p:nvSpPr>
        <p:spPr/>
        <p:txBody>
          <a:bodyPr/>
          <a:lstStyle/>
          <a:p>
            <a:fld id="{C74C14B9-4D67-7C49-ADCC-DA1BA1CB4C79}" type="slidenum">
              <a:rPr lang="en-US" smtClean="0"/>
              <a:t>14</a:t>
            </a:fld>
            <a:endParaRPr lang="en-US"/>
          </a:p>
        </p:txBody>
      </p:sp>
    </p:spTree>
    <p:extLst>
      <p:ext uri="{BB962C8B-B14F-4D97-AF65-F5344CB8AC3E}">
        <p14:creationId xmlns:p14="http://schemas.microsoft.com/office/powerpoint/2010/main" val="143568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(X’Y’)’</a:t>
            </a:r>
          </a:p>
          <a:p>
            <a:endParaRPr lang="en-US" dirty="0"/>
          </a:p>
        </p:txBody>
      </p:sp>
      <p:sp>
        <p:nvSpPr>
          <p:cNvPr id="4" name="Slide Number Placeholder 3"/>
          <p:cNvSpPr>
            <a:spLocks noGrp="1"/>
          </p:cNvSpPr>
          <p:nvPr>
            <p:ph type="sldNum" sz="quarter" idx="10"/>
          </p:nvPr>
        </p:nvSpPr>
        <p:spPr/>
        <p:txBody>
          <a:bodyPr/>
          <a:lstStyle/>
          <a:p>
            <a:fld id="{C74C14B9-4D67-7C49-ADCC-DA1BA1CB4C79}" type="slidenum">
              <a:rPr lang="en-US" smtClean="0"/>
              <a:t>15</a:t>
            </a:fld>
            <a:endParaRPr lang="en-US"/>
          </a:p>
        </p:txBody>
      </p:sp>
    </p:spTree>
    <p:extLst>
      <p:ext uri="{BB962C8B-B14F-4D97-AF65-F5344CB8AC3E}">
        <p14:creationId xmlns:p14="http://schemas.microsoft.com/office/powerpoint/2010/main" val="63172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usually we branch to the subroutine start indirectly to find the return address, but this time we have an</a:t>
            </a:r>
            <a:r>
              <a:rPr lang="en-US" baseline="0" dirty="0"/>
              <a:t> operand value there not the return address.</a:t>
            </a:r>
          </a:p>
          <a:p>
            <a:r>
              <a:rPr lang="en-US" baseline="0" dirty="0"/>
              <a:t>We increment location [207] from 202 to 203 and then we branch indirectly to 207 to find 203, we jump to it and continue the program.</a:t>
            </a:r>
          </a:p>
          <a:p>
            <a:r>
              <a:rPr lang="en-US" baseline="0" dirty="0"/>
              <a:t>The </a:t>
            </a:r>
            <a:r>
              <a:rPr lang="en-US" baseline="0" dirty="0" err="1"/>
              <a:t>isz</a:t>
            </a:r>
            <a:r>
              <a:rPr lang="en-US" baseline="0" dirty="0"/>
              <a:t> here is just used for incrementing.</a:t>
            </a:r>
            <a:endParaRPr lang="en-US" dirty="0"/>
          </a:p>
        </p:txBody>
      </p:sp>
      <p:sp>
        <p:nvSpPr>
          <p:cNvPr id="4" name="Slide Number Placeholder 3"/>
          <p:cNvSpPr>
            <a:spLocks noGrp="1"/>
          </p:cNvSpPr>
          <p:nvPr>
            <p:ph type="sldNum" sz="quarter" idx="10"/>
          </p:nvPr>
        </p:nvSpPr>
        <p:spPr/>
        <p:txBody>
          <a:bodyPr/>
          <a:lstStyle/>
          <a:p>
            <a:fld id="{C74C14B9-4D67-7C49-ADCC-DA1BA1CB4C79}" type="slidenum">
              <a:rPr lang="en-US" smtClean="0"/>
              <a:t>16</a:t>
            </a:fld>
            <a:endParaRPr lang="en-US"/>
          </a:p>
        </p:txBody>
      </p:sp>
    </p:spTree>
    <p:extLst>
      <p:ext uri="{BB962C8B-B14F-4D97-AF65-F5344CB8AC3E}">
        <p14:creationId xmlns:p14="http://schemas.microsoft.com/office/powerpoint/2010/main" val="312563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keeps on reading</a:t>
            </a:r>
            <a:r>
              <a:rPr lang="en-US" baseline="0" dirty="0"/>
              <a:t> characters and storing them in address 500, 501, 502,</a:t>
            </a:r>
            <a:r>
              <a:rPr lang="mr-IN" baseline="0" dirty="0"/>
              <a:t>……</a:t>
            </a:r>
            <a:r>
              <a:rPr lang="en-US" baseline="0" dirty="0"/>
              <a:t> there’s no counter used unfortunately to stop this</a:t>
            </a:r>
            <a:endParaRPr lang="en-US" dirty="0"/>
          </a:p>
        </p:txBody>
      </p:sp>
      <p:sp>
        <p:nvSpPr>
          <p:cNvPr id="4" name="Slide Number Placeholder 3"/>
          <p:cNvSpPr>
            <a:spLocks noGrp="1"/>
          </p:cNvSpPr>
          <p:nvPr>
            <p:ph type="sldNum" sz="quarter" idx="10"/>
          </p:nvPr>
        </p:nvSpPr>
        <p:spPr/>
        <p:txBody>
          <a:bodyPr/>
          <a:lstStyle/>
          <a:p>
            <a:fld id="{C74C14B9-4D67-7C49-ADCC-DA1BA1CB4C79}" type="slidenum">
              <a:rPr lang="en-US" smtClean="0"/>
              <a:t>24</a:t>
            </a:fld>
            <a:endParaRPr lang="en-US"/>
          </a:p>
        </p:txBody>
      </p:sp>
    </p:spTree>
    <p:extLst>
      <p:ext uri="{BB962C8B-B14F-4D97-AF65-F5344CB8AC3E}">
        <p14:creationId xmlns:p14="http://schemas.microsoft.com/office/powerpoint/2010/main" val="746063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 is stored in location 0, then PC is set to 1, and IEN is set to 0.</a:t>
            </a:r>
          </a:p>
          <a:p>
            <a:r>
              <a:rPr lang="en-US" dirty="0"/>
              <a:t>Because PC</a:t>
            </a:r>
            <a:r>
              <a:rPr lang="en-US" baseline="0" dirty="0"/>
              <a:t> =1, we execute BUN SRV so we jump there and start our interrupt routine.</a:t>
            </a:r>
            <a:endParaRPr lang="en-US" dirty="0"/>
          </a:p>
        </p:txBody>
      </p:sp>
      <p:sp>
        <p:nvSpPr>
          <p:cNvPr id="4" name="Slide Number Placeholder 3"/>
          <p:cNvSpPr>
            <a:spLocks noGrp="1"/>
          </p:cNvSpPr>
          <p:nvPr>
            <p:ph type="sldNum" sz="quarter" idx="10"/>
          </p:nvPr>
        </p:nvSpPr>
        <p:spPr/>
        <p:txBody>
          <a:bodyPr/>
          <a:lstStyle/>
          <a:p>
            <a:fld id="{C74C14B9-4D67-7C49-ADCC-DA1BA1CB4C79}" type="slidenum">
              <a:rPr lang="en-US" smtClean="0"/>
              <a:t>31</a:t>
            </a:fld>
            <a:endParaRPr lang="en-US"/>
          </a:p>
        </p:txBody>
      </p:sp>
    </p:spTree>
    <p:extLst>
      <p:ext uri="{BB962C8B-B14F-4D97-AF65-F5344CB8AC3E}">
        <p14:creationId xmlns:p14="http://schemas.microsoft.com/office/powerpoint/2010/main" val="1704804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saving the AC value and the E value so we don</a:t>
            </a:r>
            <a:r>
              <a:rPr lang="mr-IN" dirty="0"/>
              <a:t>’</a:t>
            </a:r>
            <a:r>
              <a:rPr lang="en-US" dirty="0"/>
              <a:t>t lose them when we come back. SAC and SE are just special locations to store them.</a:t>
            </a:r>
          </a:p>
        </p:txBody>
      </p:sp>
      <p:sp>
        <p:nvSpPr>
          <p:cNvPr id="4" name="Slide Number Placeholder 3"/>
          <p:cNvSpPr>
            <a:spLocks noGrp="1"/>
          </p:cNvSpPr>
          <p:nvPr>
            <p:ph type="sldNum" sz="quarter" idx="10"/>
          </p:nvPr>
        </p:nvSpPr>
        <p:spPr/>
        <p:txBody>
          <a:bodyPr/>
          <a:lstStyle/>
          <a:p>
            <a:fld id="{C74C14B9-4D67-7C49-ADCC-DA1BA1CB4C79}" type="slidenum">
              <a:rPr lang="en-US" smtClean="0"/>
              <a:t>32</a:t>
            </a:fld>
            <a:endParaRPr lang="en-US"/>
          </a:p>
        </p:txBody>
      </p:sp>
    </p:spTree>
    <p:extLst>
      <p:ext uri="{BB962C8B-B14F-4D97-AF65-F5344CB8AC3E}">
        <p14:creationId xmlns:p14="http://schemas.microsoft.com/office/powerpoint/2010/main" val="1461399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moving the input</a:t>
            </a:r>
            <a:r>
              <a:rPr lang="en-US" baseline="0" dirty="0"/>
              <a:t> to AC then from AC to whatever address inside PT1</a:t>
            </a:r>
          </a:p>
          <a:p>
            <a:r>
              <a:rPr lang="en-US" baseline="0" dirty="0"/>
              <a:t>Then we are incrementing the pointer value so next time we input a character it goes there instead of overriding the one we just read.</a:t>
            </a:r>
          </a:p>
          <a:p>
            <a:endParaRPr lang="en-US" baseline="0" dirty="0"/>
          </a:p>
          <a:p>
            <a:r>
              <a:rPr lang="en-US" baseline="0" dirty="0"/>
              <a:t>or we are moving the output from whatever PT2 is pointing to to the AC and then to output. and then incrementing the PT2 for next time.</a:t>
            </a:r>
            <a:endParaRPr lang="en-US" dirty="0"/>
          </a:p>
        </p:txBody>
      </p:sp>
      <p:sp>
        <p:nvSpPr>
          <p:cNvPr id="4" name="Slide Number Placeholder 3"/>
          <p:cNvSpPr>
            <a:spLocks noGrp="1"/>
          </p:cNvSpPr>
          <p:nvPr>
            <p:ph type="sldNum" sz="quarter" idx="10"/>
          </p:nvPr>
        </p:nvSpPr>
        <p:spPr/>
        <p:txBody>
          <a:bodyPr/>
          <a:lstStyle/>
          <a:p>
            <a:fld id="{C74C14B9-4D67-7C49-ADCC-DA1BA1CB4C79}" type="slidenum">
              <a:rPr lang="en-US" smtClean="0"/>
              <a:t>33</a:t>
            </a:fld>
            <a:endParaRPr lang="en-US"/>
          </a:p>
        </p:txBody>
      </p:sp>
    </p:spTree>
    <p:extLst>
      <p:ext uri="{BB962C8B-B14F-4D97-AF65-F5344CB8AC3E}">
        <p14:creationId xmlns:p14="http://schemas.microsoft.com/office/powerpoint/2010/main" val="1973177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finished I/O so we must restore our AC and E values. and branching back to our program</a:t>
            </a:r>
            <a:r>
              <a:rPr lang="en-US" baseline="0" dirty="0"/>
              <a:t> by </a:t>
            </a:r>
            <a:r>
              <a:rPr lang="en-US" baseline="0"/>
              <a:t>branching indirectly to ZRO which contains 104!</a:t>
            </a:r>
            <a:endParaRPr lang="en-US" baseline="0" dirty="0"/>
          </a:p>
        </p:txBody>
      </p:sp>
      <p:sp>
        <p:nvSpPr>
          <p:cNvPr id="4" name="Slide Number Placeholder 3"/>
          <p:cNvSpPr>
            <a:spLocks noGrp="1"/>
          </p:cNvSpPr>
          <p:nvPr>
            <p:ph type="sldNum" sz="quarter" idx="10"/>
          </p:nvPr>
        </p:nvSpPr>
        <p:spPr/>
        <p:txBody>
          <a:bodyPr/>
          <a:lstStyle/>
          <a:p>
            <a:fld id="{C74C14B9-4D67-7C49-ADCC-DA1BA1CB4C79}" type="slidenum">
              <a:rPr lang="en-US" smtClean="0"/>
              <a:t>34</a:t>
            </a:fld>
            <a:endParaRPr lang="en-US"/>
          </a:p>
        </p:txBody>
      </p:sp>
    </p:spTree>
    <p:extLst>
      <p:ext uri="{BB962C8B-B14F-4D97-AF65-F5344CB8AC3E}">
        <p14:creationId xmlns:p14="http://schemas.microsoft.com/office/powerpoint/2010/main" val="817782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162B6B-E937-7746-8B29-AE8676BB9FAA}"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22164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Arial" charset="0"/>
                <a:ea typeface="Arial" charset="0"/>
                <a:cs typeface="Arial"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charset="0"/>
                <a:ea typeface="Arial" charset="0"/>
                <a:cs typeface="Arial" charset="0"/>
              </a:defRPr>
            </a:lvl1pPr>
            <a:lvl2pPr>
              <a:defRPr>
                <a:latin typeface="Arial" charset="0"/>
                <a:ea typeface="Arial" charset="0"/>
                <a:cs typeface="Arial" charset="0"/>
              </a:defRPr>
            </a:lvl2pPr>
            <a:lvl3pPr>
              <a:defRPr>
                <a:latin typeface="Arial" charset="0"/>
                <a:ea typeface="Arial" charset="0"/>
                <a:cs typeface="Arial" charset="0"/>
              </a:defRPr>
            </a:lvl3pPr>
            <a:lvl4pPr>
              <a:defRPr>
                <a:latin typeface="Arial" charset="0"/>
                <a:ea typeface="Arial" charset="0"/>
                <a:cs typeface="Arial" charset="0"/>
              </a:defRPr>
            </a:lvl4pPr>
            <a:lvl5pPr>
              <a:defRPr>
                <a:latin typeface="Arial" charset="0"/>
                <a:ea typeface="Arial" charset="0"/>
                <a:cs typeface="Arial" charset="0"/>
              </a:defRPr>
            </a:lvl5p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B162B6B-E937-7746-8B29-AE8676BB9FAA}"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2114225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162B6B-E937-7746-8B29-AE8676BB9FAA}"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1597238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162B6B-E937-7746-8B29-AE8676BB9FAA}"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1248167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162B6B-E937-7746-8B29-AE8676BB9FAA}" type="datetimeFigureOut">
              <a:rPr lang="en-US" smtClean="0"/>
              <a:t>5/4/26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1336253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162B6B-E937-7746-8B29-AE8676BB9FAA}" type="datetimeFigureOut">
              <a:rPr lang="en-US" smtClean="0"/>
              <a:t>5/4/26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24056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162B6B-E937-7746-8B29-AE8676BB9FAA}" type="datetimeFigureOut">
              <a:rPr lang="en-US" smtClean="0"/>
              <a:t>5/4/26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587039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162B6B-E937-7746-8B29-AE8676BB9FAA}"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833876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162B6B-E937-7746-8B29-AE8676BB9FAA}" type="datetimeFigureOut">
              <a:rPr lang="en-US" smtClean="0"/>
              <a:t>5/4/26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478105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162B6B-E937-7746-8B29-AE8676BB9FAA}"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1782815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162B6B-E937-7746-8B29-AE8676BB9FAA}" type="datetimeFigureOut">
              <a:rPr lang="en-US" smtClean="0"/>
              <a:t>5/4/26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F5C7F-D91E-C444-95EF-6BFEE35C4D3B}" type="slidenum">
              <a:rPr lang="en-US" smtClean="0"/>
              <a:t>‹#›</a:t>
            </a:fld>
            <a:endParaRPr lang="en-US"/>
          </a:p>
        </p:txBody>
      </p:sp>
    </p:spTree>
    <p:extLst>
      <p:ext uri="{BB962C8B-B14F-4D97-AF65-F5344CB8AC3E}">
        <p14:creationId xmlns:p14="http://schemas.microsoft.com/office/powerpoint/2010/main" val="2081088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62B6B-E937-7746-8B29-AE8676BB9FAA}" type="datetimeFigureOut">
              <a:rPr lang="en-US" smtClean="0"/>
              <a:t>5/4/26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CF5C7F-D91E-C444-95EF-6BFEE35C4D3B}" type="slidenum">
              <a:rPr lang="en-US" smtClean="0"/>
              <a:t>‹#›</a:t>
            </a:fld>
            <a:endParaRPr lang="en-US"/>
          </a:p>
        </p:txBody>
      </p:sp>
    </p:spTree>
    <p:extLst>
      <p:ext uri="{BB962C8B-B14F-4D97-AF65-F5344CB8AC3E}">
        <p14:creationId xmlns:p14="http://schemas.microsoft.com/office/powerpoint/2010/main" val="1155709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Helvetica Neue" charset="0"/>
          <a:ea typeface="Helvetica Neue" charset="0"/>
          <a:cs typeface="Helvetica Neue"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Helvetica Neue" charset="0"/>
          <a:ea typeface="Helvetica Neue" charset="0"/>
          <a:cs typeface="Helvetica Neue"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Helvetica Neue" charset="0"/>
          <a:ea typeface="Helvetica Neue" charset="0"/>
          <a:cs typeface="Helvetica Neue"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Helvetica Neue" charset="0"/>
          <a:ea typeface="Helvetica Neue" charset="0"/>
          <a:cs typeface="Helvetica Neue"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Helvetica Neue" charset="0"/>
          <a:ea typeface="Helvetica Neue" charset="0"/>
          <a:cs typeface="Helvetica Neue"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Helvetica Neue" charset="0"/>
          <a:ea typeface="Helvetica Neue" charset="0"/>
          <a:cs typeface="Helvetica Neue"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957512" y="3446781"/>
            <a:ext cx="8818852" cy="1117282"/>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6000" b="1" kern="1200">
                <a:solidFill>
                  <a:schemeClr val="tx1"/>
                </a:solidFill>
                <a:latin typeface="Helvetica Neue" charset="0"/>
                <a:ea typeface="Helvetica Neue" charset="0"/>
                <a:cs typeface="Helvetica Neue" charset="0"/>
              </a:defRPr>
            </a:lvl1pPr>
          </a:lstStyle>
          <a:p>
            <a:pPr algn="l"/>
            <a:r>
              <a:rPr lang="en-US" sz="3600" dirty="0"/>
              <a:t>Programming the Basic </a:t>
            </a:r>
            <a:r>
              <a:rPr lang="en-US" sz="3600"/>
              <a:t>computer (2</a:t>
            </a:r>
            <a:r>
              <a:rPr lang="en-US" sz="3600" dirty="0"/>
              <a:t>)</a:t>
            </a:r>
            <a:endParaRPr lang="en-US" sz="3600" dirty="0">
              <a:solidFill>
                <a:srgbClr val="C00000"/>
              </a:solidFill>
            </a:endParaRPr>
          </a:p>
        </p:txBody>
      </p:sp>
      <p:sp>
        <p:nvSpPr>
          <p:cNvPr id="5" name="Rectangle 4"/>
          <p:cNvSpPr/>
          <p:nvPr/>
        </p:nvSpPr>
        <p:spPr>
          <a:xfrm>
            <a:off x="1524000" y="3602038"/>
            <a:ext cx="1280160" cy="12801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Avenir Book" charset="0"/>
                <a:ea typeface="Avenir Book" charset="0"/>
                <a:cs typeface="Avenir Book" charset="0"/>
              </a:rPr>
              <a:t>Lecture</a:t>
            </a:r>
            <a:endParaRPr lang="en-US" dirty="0">
              <a:latin typeface="Avenir Book" charset="0"/>
              <a:ea typeface="Avenir Book" charset="0"/>
              <a:cs typeface="Avenir Book" charset="0"/>
            </a:endParaRPr>
          </a:p>
          <a:p>
            <a:pPr algn="ctr"/>
            <a:r>
              <a:rPr lang="en-US" sz="4800" dirty="0">
                <a:latin typeface="Avenir Book" charset="0"/>
                <a:ea typeface="Avenir Book" charset="0"/>
                <a:cs typeface="Avenir Book" charset="0"/>
              </a:rPr>
              <a:t>9</a:t>
            </a:r>
          </a:p>
        </p:txBody>
      </p:sp>
      <p:sp>
        <p:nvSpPr>
          <p:cNvPr id="6" name="Rectangle 5"/>
          <p:cNvSpPr/>
          <p:nvPr/>
        </p:nvSpPr>
        <p:spPr>
          <a:xfrm>
            <a:off x="1524000" y="2614613"/>
            <a:ext cx="1280160" cy="832168"/>
          </a:xfrm>
          <a:prstGeom prst="rect">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Avenir Book" charset="0"/>
                <a:ea typeface="Avenir Book" charset="0"/>
                <a:cs typeface="Avenir Book" charset="0"/>
              </a:rPr>
              <a:t>CSEN</a:t>
            </a:r>
          </a:p>
          <a:p>
            <a:pPr algn="ctr"/>
            <a:r>
              <a:rPr lang="en-US" sz="2400" dirty="0">
                <a:latin typeface="Avenir Book" charset="0"/>
                <a:ea typeface="Avenir Book" charset="0"/>
                <a:cs typeface="Avenir Book" charset="0"/>
              </a:rPr>
              <a:t>402</a:t>
            </a:r>
            <a:endParaRPr lang="en-US" sz="4800" dirty="0">
              <a:latin typeface="Avenir Book" charset="0"/>
              <a:ea typeface="Avenir Book" charset="0"/>
              <a:cs typeface="Avenir Book" charset="0"/>
            </a:endParaRPr>
          </a:p>
        </p:txBody>
      </p:sp>
      <p:sp>
        <p:nvSpPr>
          <p:cNvPr id="7" name="Title 1"/>
          <p:cNvSpPr txBox="1">
            <a:spLocks/>
          </p:cNvSpPr>
          <p:nvPr/>
        </p:nvSpPr>
        <p:spPr>
          <a:xfrm>
            <a:off x="2957512" y="2633028"/>
            <a:ext cx="8350567" cy="83058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dirty="0">
                <a:solidFill>
                  <a:schemeClr val="tx1">
                    <a:lumMod val="65000"/>
                    <a:lumOff val="35000"/>
                  </a:schemeClr>
                </a:solidFill>
                <a:latin typeface="Helvetica Neue" charset="0"/>
                <a:ea typeface="Helvetica Neue" charset="0"/>
                <a:cs typeface="Helvetica Neue" charset="0"/>
              </a:rPr>
              <a:t>Computer Organization and system programming</a:t>
            </a:r>
          </a:p>
        </p:txBody>
      </p:sp>
      <p:sp>
        <p:nvSpPr>
          <p:cNvPr id="8" name="Rectangle 7"/>
          <p:cNvSpPr/>
          <p:nvPr/>
        </p:nvSpPr>
        <p:spPr>
          <a:xfrm>
            <a:off x="0" y="6400800"/>
            <a:ext cx="12192000" cy="45719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Avenir Book" charset="0"/>
                <a:ea typeface="Avenir Book" charset="0"/>
                <a:cs typeface="Avenir Book" charset="0"/>
              </a:rPr>
              <a:t>Spring 2026         Dr. </a:t>
            </a:r>
            <a:r>
              <a:rPr lang="en-US" sz="2000" dirty="0" err="1">
                <a:latin typeface="Avenir Book" charset="0"/>
                <a:ea typeface="Avenir Book" charset="0"/>
                <a:cs typeface="Avenir Book" charset="0"/>
              </a:rPr>
              <a:t>Milad</a:t>
            </a:r>
            <a:r>
              <a:rPr lang="en-US" sz="2000" dirty="0">
                <a:latin typeface="Avenir Book" charset="0"/>
                <a:ea typeface="Avenir Book" charset="0"/>
                <a:cs typeface="Avenir Book" charset="0"/>
              </a:rPr>
              <a:t> </a:t>
            </a:r>
            <a:r>
              <a:rPr lang="en-US" sz="2000" dirty="0" err="1">
                <a:latin typeface="Avenir Book" charset="0"/>
                <a:ea typeface="Avenir Book" charset="0"/>
                <a:cs typeface="Avenir Book" charset="0"/>
              </a:rPr>
              <a:t>Ghantous</a:t>
            </a:r>
            <a:r>
              <a:rPr lang="en-US" sz="2000" dirty="0">
                <a:latin typeface="Avenir Book" charset="0"/>
                <a:ea typeface="Avenir Book" charset="0"/>
                <a:cs typeface="Avenir Book" charset="0"/>
              </a:rPr>
              <a:t>           MET department-German University in Cairo</a:t>
            </a:r>
          </a:p>
        </p:txBody>
      </p:sp>
      <p:sp>
        <p:nvSpPr>
          <p:cNvPr id="9" name="Title 1"/>
          <p:cNvSpPr txBox="1">
            <a:spLocks/>
          </p:cNvSpPr>
          <p:nvPr/>
        </p:nvSpPr>
        <p:spPr>
          <a:xfrm>
            <a:off x="2957512" y="4242118"/>
            <a:ext cx="8350567" cy="83058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chemeClr val="bg1">
                    <a:lumMod val="65000"/>
                  </a:schemeClr>
                </a:solidFill>
                <a:latin typeface="Helvetica Neue" charset="0"/>
                <a:ea typeface="Helvetica Neue" charset="0"/>
                <a:cs typeface="Helvetica Neue" charset="0"/>
              </a:rPr>
              <a:t>Textbook chapter 6</a:t>
            </a:r>
          </a:p>
        </p:txBody>
      </p:sp>
    </p:spTree>
    <p:extLst>
      <p:ext uri="{BB962C8B-B14F-4D97-AF65-F5344CB8AC3E}">
        <p14:creationId xmlns:p14="http://schemas.microsoft.com/office/powerpoint/2010/main" val="1000635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7250"/>
            <a:ext cx="10515600" cy="1325563"/>
          </a:xfrm>
        </p:spPr>
        <p:txBody>
          <a:bodyPr/>
          <a:lstStyle/>
          <a:p>
            <a:r>
              <a:rPr lang="en-US" dirty="0">
                <a:solidFill>
                  <a:srgbClr val="C00000"/>
                </a:solidFill>
              </a:rPr>
              <a:t>Part 1</a:t>
            </a:r>
          </a:p>
        </p:txBody>
      </p:sp>
      <p:sp>
        <p:nvSpPr>
          <p:cNvPr id="3" name="Content Placeholder 2"/>
          <p:cNvSpPr>
            <a:spLocks noGrp="1"/>
          </p:cNvSpPr>
          <p:nvPr>
            <p:ph idx="1"/>
          </p:nvPr>
        </p:nvSpPr>
        <p:spPr>
          <a:xfrm>
            <a:off x="838200" y="3657599"/>
            <a:ext cx="10515600" cy="180090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t>Subroutines</a:t>
            </a:r>
          </a:p>
        </p:txBody>
      </p:sp>
    </p:spTree>
    <p:extLst>
      <p:ext uri="{BB962C8B-B14F-4D97-AF65-F5344CB8AC3E}">
        <p14:creationId xmlns:p14="http://schemas.microsoft.com/office/powerpoint/2010/main" val="163416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2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2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Subroutines</a:t>
            </a:r>
          </a:p>
        </p:txBody>
      </p:sp>
      <p:sp>
        <p:nvSpPr>
          <p:cNvPr id="484" name="TextBox 483"/>
          <p:cNvSpPr txBox="1"/>
          <p:nvPr/>
        </p:nvSpPr>
        <p:spPr>
          <a:xfrm>
            <a:off x="838200" y="1852705"/>
            <a:ext cx="7015843" cy="3970318"/>
          </a:xfrm>
          <a:prstGeom prst="rect">
            <a:avLst/>
          </a:prstGeom>
          <a:noFill/>
        </p:spPr>
        <p:txBody>
          <a:bodyPr wrap="square" rtlCol="0">
            <a:spAutoFit/>
          </a:bodyPr>
          <a:lstStyle/>
          <a:p>
            <a:pPr marL="285750" indent="-285750">
              <a:buFont typeface="Arial" charset="0"/>
              <a:buChar char="•"/>
            </a:pPr>
            <a:r>
              <a:rPr lang="en-US" sz="2800" dirty="0"/>
              <a:t>A repeated chunk of code that is used repeatedly in the program.</a:t>
            </a:r>
          </a:p>
          <a:p>
            <a:pPr marL="285750" indent="-285750">
              <a:buFont typeface="Arial" charset="0"/>
              <a:buChar char="•"/>
            </a:pPr>
            <a:endParaRPr lang="en-US" sz="2800" dirty="0"/>
          </a:p>
          <a:p>
            <a:pPr marL="285750" indent="-285750">
              <a:buFont typeface="Arial" charset="0"/>
              <a:buChar char="•"/>
            </a:pPr>
            <a:r>
              <a:rPr lang="en-US" sz="2800" dirty="0"/>
              <a:t>Instead of writing it each time, we write it one time and we “Call” it whenever we need. </a:t>
            </a:r>
          </a:p>
          <a:p>
            <a:pPr marL="285750" indent="-285750">
              <a:buFont typeface="Arial" charset="0"/>
              <a:buChar char="•"/>
            </a:pPr>
            <a:endParaRPr lang="en-US" sz="2800" dirty="0"/>
          </a:p>
          <a:p>
            <a:pPr marL="285750" indent="-285750">
              <a:buFont typeface="Arial" charset="0"/>
              <a:buChar char="•"/>
            </a:pPr>
            <a:r>
              <a:rPr lang="en-US" sz="2800" dirty="0"/>
              <a:t>Functions or methods work this way. In assembly, we call them subroutines.</a:t>
            </a:r>
          </a:p>
        </p:txBody>
      </p:sp>
      <p:sp>
        <p:nvSpPr>
          <p:cNvPr id="13" name="TextBox 12"/>
          <p:cNvSpPr txBox="1"/>
          <p:nvPr/>
        </p:nvSpPr>
        <p:spPr>
          <a:xfrm>
            <a:off x="9044556" y="1027906"/>
            <a:ext cx="2125903" cy="5078313"/>
          </a:xfrm>
          <a:prstGeom prst="rect">
            <a:avLst/>
          </a:prstGeom>
          <a:noFill/>
        </p:spPr>
        <p:txBody>
          <a:bodyPr wrap="none" rtlCol="0">
            <a:spAutoFit/>
          </a:bodyPr>
          <a:lstStyle/>
          <a:p>
            <a:r>
              <a:rPr lang="en-US" sz="3600" dirty="0">
                <a:latin typeface="Courier" charset="0"/>
                <a:ea typeface="Courier" charset="0"/>
                <a:cs typeface="Courier" charset="0"/>
              </a:rPr>
              <a:t>a=1</a:t>
            </a:r>
          </a:p>
          <a:p>
            <a:r>
              <a:rPr lang="en-US" sz="3600" dirty="0">
                <a:latin typeface="Courier" charset="0"/>
                <a:ea typeface="Courier" charset="0"/>
                <a:cs typeface="Courier" charset="0"/>
              </a:rPr>
              <a:t>b=2</a:t>
            </a:r>
          </a:p>
          <a:p>
            <a:r>
              <a:rPr lang="en-US" sz="3600" dirty="0">
                <a:latin typeface="Courier" charset="0"/>
                <a:ea typeface="Courier" charset="0"/>
                <a:cs typeface="Courier" charset="0"/>
              </a:rPr>
              <a:t>c=</a:t>
            </a:r>
            <a:r>
              <a:rPr lang="en-US" sz="3600" dirty="0" err="1">
                <a:latin typeface="Courier" charset="0"/>
                <a:ea typeface="Courier" charset="0"/>
                <a:cs typeface="Courier" charset="0"/>
              </a:rPr>
              <a:t>a+b</a:t>
            </a:r>
            <a:r>
              <a:rPr lang="en-US" sz="3600" dirty="0">
                <a:latin typeface="Courier" charset="0"/>
                <a:ea typeface="Courier" charset="0"/>
                <a:cs typeface="Courier" charset="0"/>
              </a:rPr>
              <a:t>;</a:t>
            </a:r>
          </a:p>
          <a:p>
            <a:r>
              <a:rPr lang="en-US" sz="3600" b="1" i="1" dirty="0" err="1">
                <a:solidFill>
                  <a:srgbClr val="C00000"/>
                </a:solidFill>
                <a:latin typeface="Courier" charset="0"/>
                <a:ea typeface="Courier" charset="0"/>
                <a:cs typeface="Courier" charset="0"/>
              </a:rPr>
              <a:t>func</a:t>
            </a:r>
            <a:r>
              <a:rPr lang="en-US" sz="3600" b="1" i="1" dirty="0">
                <a:solidFill>
                  <a:srgbClr val="C00000"/>
                </a:solidFill>
                <a:latin typeface="Courier" charset="0"/>
                <a:ea typeface="Courier" charset="0"/>
                <a:cs typeface="Courier" charset="0"/>
              </a:rPr>
              <a:t>();</a:t>
            </a:r>
          </a:p>
          <a:p>
            <a:r>
              <a:rPr lang="en-US" sz="3600" dirty="0">
                <a:latin typeface="Courier" charset="0"/>
                <a:ea typeface="Courier" charset="0"/>
                <a:cs typeface="Courier" charset="0"/>
              </a:rPr>
              <a:t>d=a-b;</a:t>
            </a:r>
          </a:p>
          <a:p>
            <a:r>
              <a:rPr lang="en-US" sz="3600" dirty="0">
                <a:latin typeface="Courier" charset="0"/>
                <a:ea typeface="Courier" charset="0"/>
                <a:cs typeface="Courier" charset="0"/>
              </a:rPr>
              <a:t>m=a;</a:t>
            </a:r>
          </a:p>
          <a:p>
            <a:r>
              <a:rPr lang="en-US" sz="3600" b="1" i="1" dirty="0" err="1">
                <a:solidFill>
                  <a:srgbClr val="C00000"/>
                </a:solidFill>
                <a:latin typeface="Courier" charset="0"/>
                <a:ea typeface="Courier" charset="0"/>
                <a:cs typeface="Courier" charset="0"/>
              </a:rPr>
              <a:t>func</a:t>
            </a:r>
            <a:r>
              <a:rPr lang="en-US" sz="3600" b="1" i="1" dirty="0">
                <a:solidFill>
                  <a:srgbClr val="C00000"/>
                </a:solidFill>
                <a:latin typeface="Courier" charset="0"/>
                <a:ea typeface="Courier" charset="0"/>
                <a:cs typeface="Courier" charset="0"/>
              </a:rPr>
              <a:t>();</a:t>
            </a:r>
          </a:p>
          <a:p>
            <a:r>
              <a:rPr lang="mr-IN" sz="3600" dirty="0">
                <a:latin typeface="Courier" charset="0"/>
                <a:ea typeface="Courier" charset="0"/>
                <a:cs typeface="Courier" charset="0"/>
              </a:rPr>
              <a:t>…</a:t>
            </a:r>
            <a:endParaRPr lang="en-US" sz="3600" dirty="0">
              <a:latin typeface="Courier" charset="0"/>
              <a:ea typeface="Courier" charset="0"/>
              <a:cs typeface="Courier" charset="0"/>
            </a:endParaRPr>
          </a:p>
          <a:p>
            <a:endParaRPr lang="en-US" sz="3600" dirty="0">
              <a:latin typeface="Courier" charset="0"/>
              <a:ea typeface="Courier" charset="0"/>
              <a:cs typeface="Courier" charset="0"/>
            </a:endParaRPr>
          </a:p>
        </p:txBody>
      </p:sp>
    </p:spTree>
    <p:extLst>
      <p:ext uri="{BB962C8B-B14F-4D97-AF65-F5344CB8AC3E}">
        <p14:creationId xmlns:p14="http://schemas.microsoft.com/office/powerpoint/2010/main" val="2106881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Subroutines concept</a:t>
            </a:r>
          </a:p>
        </p:txBody>
      </p:sp>
      <p:cxnSp>
        <p:nvCxnSpPr>
          <p:cNvPr id="4" name="Straight Connector 3"/>
          <p:cNvCxnSpPr/>
          <p:nvPr/>
        </p:nvCxnSpPr>
        <p:spPr>
          <a:xfrm>
            <a:off x="3841045" y="1874661"/>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841045" y="2103261"/>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841045" y="2343584"/>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841045" y="2572184"/>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841045" y="2827161"/>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841045" y="3055761"/>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841045" y="3296084"/>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841045" y="3524684"/>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841045" y="3797246"/>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841045" y="4025846"/>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841045" y="4266169"/>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841045" y="4494769"/>
            <a:ext cx="14097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841045" y="4776122"/>
            <a:ext cx="14097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841045" y="5016445"/>
            <a:ext cx="14097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841045" y="5245045"/>
            <a:ext cx="14097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2" name="Curved Right Arrow 21"/>
          <p:cNvSpPr/>
          <p:nvPr/>
        </p:nvSpPr>
        <p:spPr>
          <a:xfrm>
            <a:off x="1672026" y="2572183"/>
            <a:ext cx="2070125" cy="2260197"/>
          </a:xfrm>
          <a:prstGeom prst="curvedRightArrow">
            <a:avLst>
              <a:gd name="adj1" fmla="val 4751"/>
              <a:gd name="adj2" fmla="val 10374"/>
              <a:gd name="adj3" fmla="val 25000"/>
            </a:avLst>
          </a:prstGeom>
          <a:solidFill>
            <a:schemeClr val="accent1">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Curved Right Arrow 25"/>
          <p:cNvSpPr/>
          <p:nvPr/>
        </p:nvSpPr>
        <p:spPr>
          <a:xfrm flipH="1" flipV="1">
            <a:off x="5349043" y="2651760"/>
            <a:ext cx="2341403" cy="2614831"/>
          </a:xfrm>
          <a:prstGeom prst="curvedRightArrow">
            <a:avLst>
              <a:gd name="adj1" fmla="val 4751"/>
              <a:gd name="adj2" fmla="val 15304"/>
              <a:gd name="adj3" fmla="val 25000"/>
            </a:avLst>
          </a:prstGeom>
          <a:solidFill>
            <a:schemeClr val="accent1">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Curved Right Arrow 26"/>
          <p:cNvSpPr/>
          <p:nvPr/>
        </p:nvSpPr>
        <p:spPr>
          <a:xfrm>
            <a:off x="3063142" y="3524685"/>
            <a:ext cx="731520" cy="1251438"/>
          </a:xfrm>
          <a:prstGeom prst="curvedRightArrow">
            <a:avLst>
              <a:gd name="adj1" fmla="val 4751"/>
              <a:gd name="adj2" fmla="val 15304"/>
              <a:gd name="adj3" fmla="val 25000"/>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Curved Right Arrow 27"/>
          <p:cNvSpPr/>
          <p:nvPr/>
        </p:nvSpPr>
        <p:spPr>
          <a:xfrm flipH="1" flipV="1">
            <a:off x="5410196" y="3797245"/>
            <a:ext cx="403579" cy="1425221"/>
          </a:xfrm>
          <a:prstGeom prst="curvedRightArrow">
            <a:avLst>
              <a:gd name="adj1" fmla="val 4751"/>
              <a:gd name="adj2" fmla="val 15304"/>
              <a:gd name="adj3" fmla="val 25000"/>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TextBox 24"/>
          <p:cNvSpPr txBox="1"/>
          <p:nvPr/>
        </p:nvSpPr>
        <p:spPr>
          <a:xfrm>
            <a:off x="266506" y="1939899"/>
            <a:ext cx="1513867" cy="2031325"/>
          </a:xfrm>
          <a:prstGeom prst="rect">
            <a:avLst/>
          </a:prstGeom>
          <a:noFill/>
        </p:spPr>
        <p:txBody>
          <a:bodyPr wrap="square" rtlCol="0">
            <a:spAutoFit/>
          </a:bodyPr>
          <a:lstStyle/>
          <a:p>
            <a:r>
              <a:rPr lang="en-US" b="1" dirty="0">
                <a:solidFill>
                  <a:srgbClr val="0070C0"/>
                </a:solidFill>
              </a:rPr>
              <a:t>we </a:t>
            </a:r>
            <a:r>
              <a:rPr lang="en-US" b="1">
                <a:solidFill>
                  <a:srgbClr val="0070C0"/>
                </a:solidFill>
              </a:rPr>
              <a:t>are at (4), First </a:t>
            </a:r>
            <a:r>
              <a:rPr lang="en-US" b="1" dirty="0">
                <a:solidFill>
                  <a:srgbClr val="0070C0"/>
                </a:solidFill>
              </a:rPr>
              <a:t>time we call the subroutine, we branch to it (13)</a:t>
            </a:r>
          </a:p>
        </p:txBody>
      </p:sp>
      <p:sp>
        <p:nvSpPr>
          <p:cNvPr id="30" name="TextBox 29"/>
          <p:cNvSpPr txBox="1"/>
          <p:nvPr/>
        </p:nvSpPr>
        <p:spPr>
          <a:xfrm>
            <a:off x="6024028" y="1571060"/>
            <a:ext cx="2335147" cy="1200329"/>
          </a:xfrm>
          <a:prstGeom prst="rect">
            <a:avLst/>
          </a:prstGeom>
          <a:noFill/>
        </p:spPr>
        <p:txBody>
          <a:bodyPr wrap="square" rtlCol="0">
            <a:spAutoFit/>
          </a:bodyPr>
          <a:lstStyle/>
          <a:p>
            <a:r>
              <a:rPr lang="en-US" b="1" dirty="0">
                <a:solidFill>
                  <a:srgbClr val="0070C0"/>
                </a:solidFill>
              </a:rPr>
              <a:t>When done, we branch back to where we left off </a:t>
            </a:r>
            <a:r>
              <a:rPr lang="en-US" b="1">
                <a:solidFill>
                  <a:srgbClr val="0070C0"/>
                </a:solidFill>
              </a:rPr>
              <a:t>to continue (5) </a:t>
            </a:r>
            <a:endParaRPr lang="en-US" b="1" dirty="0">
              <a:solidFill>
                <a:srgbClr val="0070C0"/>
              </a:solidFill>
            </a:endParaRPr>
          </a:p>
        </p:txBody>
      </p:sp>
      <p:sp>
        <p:nvSpPr>
          <p:cNvPr id="31" name="TextBox 30"/>
          <p:cNvSpPr txBox="1"/>
          <p:nvPr/>
        </p:nvSpPr>
        <p:spPr>
          <a:xfrm>
            <a:off x="2211342" y="2886396"/>
            <a:ext cx="1130429" cy="1569660"/>
          </a:xfrm>
          <a:prstGeom prst="rect">
            <a:avLst/>
          </a:prstGeom>
          <a:noFill/>
        </p:spPr>
        <p:txBody>
          <a:bodyPr wrap="square" rtlCol="0">
            <a:spAutoFit/>
          </a:bodyPr>
          <a:lstStyle/>
          <a:p>
            <a:r>
              <a:rPr lang="en-US" sz="1600" b="1" dirty="0">
                <a:solidFill>
                  <a:srgbClr val="00B050"/>
                </a:solidFill>
              </a:rPr>
              <a:t>second time, we </a:t>
            </a:r>
            <a:r>
              <a:rPr lang="en-US" sz="1600" b="1">
                <a:solidFill>
                  <a:srgbClr val="00B050"/>
                </a:solidFill>
              </a:rPr>
              <a:t>call it from (8), also go to (13)</a:t>
            </a:r>
            <a:endParaRPr lang="en-US" sz="1600" b="1" dirty="0">
              <a:solidFill>
                <a:srgbClr val="00B050"/>
              </a:solidFill>
            </a:endParaRPr>
          </a:p>
        </p:txBody>
      </p:sp>
      <p:sp>
        <p:nvSpPr>
          <p:cNvPr id="32" name="TextBox 31"/>
          <p:cNvSpPr txBox="1"/>
          <p:nvPr/>
        </p:nvSpPr>
        <p:spPr>
          <a:xfrm>
            <a:off x="5858133" y="3580589"/>
            <a:ext cx="1404851" cy="1200329"/>
          </a:xfrm>
          <a:prstGeom prst="rect">
            <a:avLst/>
          </a:prstGeom>
          <a:noFill/>
        </p:spPr>
        <p:txBody>
          <a:bodyPr wrap="square" rtlCol="0">
            <a:spAutoFit/>
          </a:bodyPr>
          <a:lstStyle/>
          <a:p>
            <a:r>
              <a:rPr lang="en-US" b="1" dirty="0">
                <a:solidFill>
                  <a:srgbClr val="00B050"/>
                </a:solidFill>
              </a:rPr>
              <a:t>when done, we branch back to (9)</a:t>
            </a:r>
          </a:p>
        </p:txBody>
      </p:sp>
      <p:sp>
        <p:nvSpPr>
          <p:cNvPr id="33" name="TextBox 32"/>
          <p:cNvSpPr txBox="1"/>
          <p:nvPr/>
        </p:nvSpPr>
        <p:spPr>
          <a:xfrm>
            <a:off x="2534992" y="5314057"/>
            <a:ext cx="1632755" cy="646331"/>
          </a:xfrm>
          <a:prstGeom prst="rect">
            <a:avLst/>
          </a:prstGeom>
          <a:noFill/>
        </p:spPr>
        <p:txBody>
          <a:bodyPr wrap="square" rtlCol="0">
            <a:spAutoFit/>
          </a:bodyPr>
          <a:lstStyle/>
          <a:p>
            <a:r>
              <a:rPr lang="en-US" b="1">
                <a:solidFill>
                  <a:schemeClr val="accent2"/>
                </a:solidFill>
              </a:rPr>
              <a:t>Subroutine </a:t>
            </a:r>
          </a:p>
          <a:p>
            <a:r>
              <a:rPr lang="en-US" b="1" dirty="0">
                <a:solidFill>
                  <a:schemeClr val="accent2"/>
                </a:solidFill>
              </a:rPr>
              <a:t>code</a:t>
            </a:r>
          </a:p>
        </p:txBody>
      </p:sp>
      <p:cxnSp>
        <p:nvCxnSpPr>
          <p:cNvPr id="480" name="Straight Arrow Connector 479"/>
          <p:cNvCxnSpPr/>
          <p:nvPr/>
        </p:nvCxnSpPr>
        <p:spPr>
          <a:xfrm flipV="1">
            <a:off x="3469415" y="5073734"/>
            <a:ext cx="206359" cy="192857"/>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82" name="Rectangular Callout 481"/>
          <p:cNvSpPr/>
          <p:nvPr/>
        </p:nvSpPr>
        <p:spPr>
          <a:xfrm>
            <a:off x="8784771" y="1646276"/>
            <a:ext cx="3026229" cy="4476938"/>
          </a:xfrm>
          <a:prstGeom prst="wedgeRectCallout">
            <a:avLst>
              <a:gd name="adj1" fmla="val -65078"/>
              <a:gd name="adj2" fmla="val -22117"/>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Notes</a:t>
            </a:r>
          </a:p>
          <a:p>
            <a:pPr algn="ctr"/>
            <a:endParaRPr lang="en-US" dirty="0"/>
          </a:p>
          <a:p>
            <a:pPr marL="285750" indent="-285750">
              <a:buFont typeface="Arial" charset="0"/>
              <a:buChar char="•"/>
            </a:pPr>
            <a:r>
              <a:rPr lang="en-US" dirty="0"/>
              <a:t>Whenever we need to call the subroutine, we branch to its starting address.</a:t>
            </a:r>
          </a:p>
          <a:p>
            <a:pPr marL="285750" indent="-285750">
              <a:buFont typeface="Arial" charset="0"/>
              <a:buChar char="•"/>
            </a:pPr>
            <a:endParaRPr lang="en-US" dirty="0"/>
          </a:p>
          <a:p>
            <a:pPr marL="285750" indent="-285750">
              <a:buFont typeface="Arial" charset="0"/>
              <a:buChar char="•"/>
            </a:pPr>
            <a:r>
              <a:rPr lang="en-US" dirty="0"/>
              <a:t>When we done, we need to return to where we left off, but this address is not always the same!</a:t>
            </a:r>
          </a:p>
          <a:p>
            <a:pPr marL="285750" indent="-285750">
              <a:buFont typeface="Arial" charset="0"/>
              <a:buChar char="•"/>
            </a:pPr>
            <a:endParaRPr lang="en-US" dirty="0"/>
          </a:p>
          <a:p>
            <a:pPr marL="285750" indent="-285750">
              <a:buFont typeface="Arial" charset="0"/>
              <a:buChar char="•"/>
            </a:pPr>
            <a:r>
              <a:rPr lang="en-US" dirty="0">
                <a:solidFill>
                  <a:schemeClr val="accent4"/>
                </a:solidFill>
                <a:latin typeface="Courier" charset="0"/>
                <a:ea typeface="Courier" charset="0"/>
                <a:cs typeface="Courier" charset="0"/>
              </a:rPr>
              <a:t>BSA</a:t>
            </a:r>
            <a:r>
              <a:rPr lang="en-US" dirty="0">
                <a:solidFill>
                  <a:schemeClr val="accent4"/>
                </a:solidFill>
              </a:rPr>
              <a:t> </a:t>
            </a:r>
            <a:r>
              <a:rPr lang="en-US" dirty="0"/>
              <a:t>is used: Branch and save the return address</a:t>
            </a:r>
          </a:p>
        </p:txBody>
      </p:sp>
      <p:sp>
        <p:nvSpPr>
          <p:cNvPr id="38" name="TextBox 37"/>
          <p:cNvSpPr txBox="1"/>
          <p:nvPr/>
        </p:nvSpPr>
        <p:spPr>
          <a:xfrm>
            <a:off x="1907949" y="1506022"/>
            <a:ext cx="2310386" cy="369332"/>
          </a:xfrm>
          <a:prstGeom prst="rect">
            <a:avLst/>
          </a:prstGeom>
          <a:noFill/>
        </p:spPr>
        <p:txBody>
          <a:bodyPr wrap="square" rtlCol="0">
            <a:spAutoFit/>
          </a:bodyPr>
          <a:lstStyle/>
          <a:p>
            <a:r>
              <a:rPr lang="en-US" b="1" dirty="0"/>
              <a:t>program code</a:t>
            </a:r>
          </a:p>
        </p:txBody>
      </p:sp>
      <p:cxnSp>
        <p:nvCxnSpPr>
          <p:cNvPr id="39" name="Straight Arrow Connector 38"/>
          <p:cNvCxnSpPr/>
          <p:nvPr/>
        </p:nvCxnSpPr>
        <p:spPr>
          <a:xfrm>
            <a:off x="3167563" y="1827892"/>
            <a:ext cx="377548" cy="2768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712337" y="1614941"/>
            <a:ext cx="383438" cy="3990836"/>
          </a:xfrm>
          <a:prstGeom prst="rect">
            <a:avLst/>
          </a:prstGeom>
          <a:noFill/>
        </p:spPr>
        <p:txBody>
          <a:bodyPr wrap="none" rtlCol="0">
            <a:spAutoFit/>
          </a:bodyPr>
          <a:lstStyle/>
          <a:p>
            <a:pPr>
              <a:lnSpc>
                <a:spcPts val="1940"/>
              </a:lnSpc>
            </a:pPr>
            <a:r>
              <a:rPr lang="en-US" sz="1400" dirty="0"/>
              <a:t>1</a:t>
            </a:r>
          </a:p>
          <a:p>
            <a:pPr>
              <a:lnSpc>
                <a:spcPts val="1940"/>
              </a:lnSpc>
            </a:pPr>
            <a:r>
              <a:rPr lang="en-US" sz="1400" dirty="0"/>
              <a:t>2</a:t>
            </a:r>
          </a:p>
          <a:p>
            <a:pPr>
              <a:lnSpc>
                <a:spcPts val="1940"/>
              </a:lnSpc>
            </a:pPr>
            <a:r>
              <a:rPr lang="en-US" sz="1400" dirty="0"/>
              <a:t>3</a:t>
            </a:r>
          </a:p>
          <a:p>
            <a:pPr>
              <a:lnSpc>
                <a:spcPts val="1940"/>
              </a:lnSpc>
            </a:pPr>
            <a:r>
              <a:rPr lang="en-US" sz="1400" dirty="0"/>
              <a:t>4</a:t>
            </a:r>
          </a:p>
          <a:p>
            <a:pPr>
              <a:lnSpc>
                <a:spcPts val="1940"/>
              </a:lnSpc>
            </a:pPr>
            <a:r>
              <a:rPr lang="en-US" sz="1400" dirty="0"/>
              <a:t>5</a:t>
            </a:r>
          </a:p>
          <a:p>
            <a:pPr>
              <a:lnSpc>
                <a:spcPts val="1940"/>
              </a:lnSpc>
            </a:pPr>
            <a:r>
              <a:rPr lang="en-US" sz="1400" dirty="0"/>
              <a:t>6</a:t>
            </a:r>
          </a:p>
          <a:p>
            <a:pPr>
              <a:lnSpc>
                <a:spcPts val="1940"/>
              </a:lnSpc>
            </a:pPr>
            <a:r>
              <a:rPr lang="en-US" sz="1400" dirty="0"/>
              <a:t>7</a:t>
            </a:r>
          </a:p>
          <a:p>
            <a:pPr>
              <a:lnSpc>
                <a:spcPts val="1940"/>
              </a:lnSpc>
            </a:pPr>
            <a:r>
              <a:rPr lang="en-US" sz="1400" dirty="0"/>
              <a:t>8</a:t>
            </a:r>
          </a:p>
          <a:p>
            <a:pPr>
              <a:lnSpc>
                <a:spcPts val="1940"/>
              </a:lnSpc>
            </a:pPr>
            <a:r>
              <a:rPr lang="en-US" sz="1400" dirty="0"/>
              <a:t>9</a:t>
            </a:r>
          </a:p>
          <a:p>
            <a:pPr>
              <a:lnSpc>
                <a:spcPts val="1940"/>
              </a:lnSpc>
            </a:pPr>
            <a:r>
              <a:rPr lang="en-US" sz="1400" dirty="0"/>
              <a:t>10</a:t>
            </a:r>
          </a:p>
          <a:p>
            <a:pPr>
              <a:lnSpc>
                <a:spcPts val="1940"/>
              </a:lnSpc>
            </a:pPr>
            <a:r>
              <a:rPr lang="en-US" sz="1400" dirty="0"/>
              <a:t>11</a:t>
            </a:r>
          </a:p>
          <a:p>
            <a:pPr>
              <a:lnSpc>
                <a:spcPts val="1940"/>
              </a:lnSpc>
            </a:pPr>
            <a:r>
              <a:rPr lang="en-US" sz="1400" dirty="0"/>
              <a:t>12</a:t>
            </a:r>
          </a:p>
          <a:p>
            <a:pPr>
              <a:lnSpc>
                <a:spcPts val="1940"/>
              </a:lnSpc>
            </a:pPr>
            <a:r>
              <a:rPr lang="en-US" sz="1400" dirty="0"/>
              <a:t>13</a:t>
            </a:r>
          </a:p>
          <a:p>
            <a:pPr>
              <a:lnSpc>
                <a:spcPts val="1940"/>
              </a:lnSpc>
            </a:pPr>
            <a:r>
              <a:rPr lang="en-US" sz="1400" dirty="0"/>
              <a:t>14</a:t>
            </a:r>
          </a:p>
          <a:p>
            <a:pPr>
              <a:lnSpc>
                <a:spcPts val="1940"/>
              </a:lnSpc>
            </a:pPr>
            <a:r>
              <a:rPr lang="en-US" sz="1400" dirty="0"/>
              <a:t>15</a:t>
            </a:r>
          </a:p>
          <a:p>
            <a:pPr>
              <a:lnSpc>
                <a:spcPts val="1940"/>
              </a:lnSpc>
            </a:pPr>
            <a:endParaRPr lang="en-US" sz="1400" dirty="0"/>
          </a:p>
        </p:txBody>
      </p:sp>
    </p:spTree>
    <p:extLst>
      <p:ext uri="{BB962C8B-B14F-4D97-AF65-F5344CB8AC3E}">
        <p14:creationId xmlns:p14="http://schemas.microsoft.com/office/powerpoint/2010/main" val="166835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dissolve">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dissolve">
                                      <p:cBhvr>
                                        <p:cTn id="15" dur="500"/>
                                        <p:tgtEl>
                                          <p:spTgt spid="2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dissolv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dissolve">
                                      <p:cBhvr>
                                        <p:cTn id="23" dur="500"/>
                                        <p:tgtEl>
                                          <p:spTgt spid="31"/>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dissolve">
                                      <p:cBhvr>
                                        <p:cTn id="26" dur="500"/>
                                        <p:tgtEl>
                                          <p:spTgt spid="27"/>
                                        </p:tgtEl>
                                      </p:cBhvr>
                                    </p:animEffect>
                                  </p:childTnLst>
                                </p:cTn>
                              </p:par>
                              <p:par>
                                <p:cTn id="27" presetID="9" presetClass="emph" presetSubtype="0" grpId="1" nodeType="withEffect">
                                  <p:stCondLst>
                                    <p:cond delay="0"/>
                                  </p:stCondLst>
                                  <p:childTnLst>
                                    <p:set>
                                      <p:cBhvr rctx="PPT">
                                        <p:cTn id="28" dur="indefinite"/>
                                        <p:tgtEl>
                                          <p:spTgt spid="25"/>
                                        </p:tgtEl>
                                        <p:attrNameLst>
                                          <p:attrName>style.opacity</p:attrName>
                                        </p:attrNameLst>
                                      </p:cBhvr>
                                      <p:to>
                                        <p:strVal val="0.5"/>
                                      </p:to>
                                    </p:set>
                                    <p:animEffect filter="image" prLst="opacity: 0.5">
                                      <p:cBhvr rctx="IE">
                                        <p:cTn id="29" dur="indefinite"/>
                                        <p:tgtEl>
                                          <p:spTgt spid="25"/>
                                        </p:tgtEl>
                                      </p:cBhvr>
                                    </p:animEffect>
                                  </p:childTnLst>
                                </p:cTn>
                              </p:par>
                              <p:par>
                                <p:cTn id="30" presetID="9" presetClass="emph" presetSubtype="0" grpId="1" nodeType="withEffect">
                                  <p:stCondLst>
                                    <p:cond delay="0"/>
                                  </p:stCondLst>
                                  <p:childTnLst>
                                    <p:set>
                                      <p:cBhvr rctx="PPT">
                                        <p:cTn id="31" dur="indefinite"/>
                                        <p:tgtEl>
                                          <p:spTgt spid="22"/>
                                        </p:tgtEl>
                                        <p:attrNameLst>
                                          <p:attrName>style.opacity</p:attrName>
                                        </p:attrNameLst>
                                      </p:cBhvr>
                                      <p:to>
                                        <p:strVal val="0.5"/>
                                      </p:to>
                                    </p:set>
                                    <p:animEffect filter="image" prLst="opacity: 0.5">
                                      <p:cBhvr rctx="IE">
                                        <p:cTn id="32" dur="indefinite"/>
                                        <p:tgtEl>
                                          <p:spTgt spid="22"/>
                                        </p:tgtEl>
                                      </p:cBhvr>
                                    </p:animEffect>
                                  </p:childTnLst>
                                </p:cTn>
                              </p:par>
                              <p:par>
                                <p:cTn id="33" presetID="9" presetClass="emph" presetSubtype="0" grpId="1" nodeType="withEffect">
                                  <p:stCondLst>
                                    <p:cond delay="0"/>
                                  </p:stCondLst>
                                  <p:childTnLst>
                                    <p:set>
                                      <p:cBhvr rctx="PPT">
                                        <p:cTn id="34" dur="indefinite"/>
                                        <p:tgtEl>
                                          <p:spTgt spid="30"/>
                                        </p:tgtEl>
                                        <p:attrNameLst>
                                          <p:attrName>style.opacity</p:attrName>
                                        </p:attrNameLst>
                                      </p:cBhvr>
                                      <p:to>
                                        <p:strVal val="0.5"/>
                                      </p:to>
                                    </p:set>
                                    <p:animEffect filter="image" prLst="opacity: 0.5">
                                      <p:cBhvr rctx="IE">
                                        <p:cTn id="35" dur="indefinite"/>
                                        <p:tgtEl>
                                          <p:spTgt spid="30"/>
                                        </p:tgtEl>
                                      </p:cBhvr>
                                    </p:animEffect>
                                  </p:childTnLst>
                                </p:cTn>
                              </p:par>
                              <p:par>
                                <p:cTn id="36" presetID="9" presetClass="emph" presetSubtype="0" grpId="1" nodeType="withEffect">
                                  <p:stCondLst>
                                    <p:cond delay="0"/>
                                  </p:stCondLst>
                                  <p:childTnLst>
                                    <p:set>
                                      <p:cBhvr rctx="PPT">
                                        <p:cTn id="37" dur="indefinite"/>
                                        <p:tgtEl>
                                          <p:spTgt spid="26"/>
                                        </p:tgtEl>
                                        <p:attrNameLst>
                                          <p:attrName>style.opacity</p:attrName>
                                        </p:attrNameLst>
                                      </p:cBhvr>
                                      <p:to>
                                        <p:strVal val="0.5"/>
                                      </p:to>
                                    </p:set>
                                    <p:animEffect filter="image" prLst="opacity: 0.5">
                                      <p:cBhvr rctx="IE">
                                        <p:cTn id="38" dur="indefinite"/>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dissolve">
                                      <p:cBhvr>
                                        <p:cTn id="43" dur="500"/>
                                        <p:tgtEl>
                                          <p:spTgt spid="28"/>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dissolve">
                                      <p:cBhvr>
                                        <p:cTn id="4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6" grpId="0" animBg="1"/>
      <p:bldP spid="26" grpId="1" animBg="1"/>
      <p:bldP spid="27" grpId="0" animBg="1"/>
      <p:bldP spid="28" grpId="0" animBg="1"/>
      <p:bldP spid="25" grpId="0"/>
      <p:bldP spid="25" grpId="1"/>
      <p:bldP spid="30" grpId="0"/>
      <p:bldP spid="30" grpId="1"/>
      <p:bldP spid="31" grpId="0"/>
      <p:bldP spid="3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BSA </a:t>
            </a:r>
            <a:br>
              <a:rPr lang="en-US" dirty="0"/>
            </a:br>
            <a:r>
              <a:rPr lang="en-US" dirty="0"/>
              <a:t>reminder</a:t>
            </a:r>
          </a:p>
        </p:txBody>
      </p:sp>
      <p:pic>
        <p:nvPicPr>
          <p:cNvPr id="4" name="Picture 3"/>
          <p:cNvPicPr>
            <a:picLocks noChangeAspect="1"/>
          </p:cNvPicPr>
          <p:nvPr/>
        </p:nvPicPr>
        <p:blipFill>
          <a:blip r:embed="rId2"/>
          <a:stretch>
            <a:fillRect/>
          </a:stretch>
        </p:blipFill>
        <p:spPr>
          <a:xfrm>
            <a:off x="4205343" y="183242"/>
            <a:ext cx="7986657" cy="6462486"/>
          </a:xfrm>
          <a:prstGeom prst="rect">
            <a:avLst/>
          </a:prstGeom>
        </p:spPr>
      </p:pic>
      <p:sp>
        <p:nvSpPr>
          <p:cNvPr id="5" name="Rectangle 4"/>
          <p:cNvSpPr/>
          <p:nvPr/>
        </p:nvSpPr>
        <p:spPr>
          <a:xfrm>
            <a:off x="5127866" y="5731328"/>
            <a:ext cx="2809701" cy="914400"/>
          </a:xfrm>
          <a:prstGeom prst="rect">
            <a:avLst/>
          </a:prstGeom>
          <a:solidFill>
            <a:srgbClr val="E370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Memory, PC and AR at time T4</a:t>
            </a:r>
          </a:p>
        </p:txBody>
      </p:sp>
      <p:sp>
        <p:nvSpPr>
          <p:cNvPr id="6" name="Rectangle 5"/>
          <p:cNvSpPr/>
          <p:nvPr/>
        </p:nvSpPr>
        <p:spPr>
          <a:xfrm>
            <a:off x="8659933" y="5763985"/>
            <a:ext cx="2809701" cy="9144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Memory, PC after execution</a:t>
            </a:r>
          </a:p>
        </p:txBody>
      </p:sp>
    </p:spTree>
    <p:extLst>
      <p:ext uri="{BB962C8B-B14F-4D97-AF65-F5344CB8AC3E}">
        <p14:creationId xmlns:p14="http://schemas.microsoft.com/office/powerpoint/2010/main" val="1289562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r>
              <a:rPr lang="en-US" dirty="0"/>
              <a:t>Subroutine </a:t>
            </a:r>
            <a:r>
              <a:rPr lang="en-US" dirty="0">
                <a:solidFill>
                  <a:srgbClr val="00B0F0"/>
                </a:solidFill>
              </a:rPr>
              <a:t>example</a:t>
            </a:r>
          </a:p>
        </p:txBody>
      </p:sp>
      <p:sp>
        <p:nvSpPr>
          <p:cNvPr id="3" name="Content Placeholder 2"/>
          <p:cNvSpPr>
            <a:spLocks noGrp="1"/>
          </p:cNvSpPr>
          <p:nvPr>
            <p:ph idx="1"/>
          </p:nvPr>
        </p:nvSpPr>
        <p:spPr>
          <a:xfrm>
            <a:off x="838200" y="1690688"/>
            <a:ext cx="3926305" cy="4351338"/>
          </a:xfrm>
        </p:spPr>
        <p:txBody>
          <a:bodyPr/>
          <a:lstStyle/>
          <a:p>
            <a:r>
              <a:rPr lang="en-US" dirty="0"/>
              <a:t>A subroutine that, whenever called, logically shifts the AC content 4 times to the left.</a:t>
            </a:r>
          </a:p>
          <a:p>
            <a:endParaRPr lang="en-US" dirty="0"/>
          </a:p>
          <a:p>
            <a:r>
              <a:rPr lang="en-US" dirty="0"/>
              <a:t>Remember we only have circulate in our basic computer.</a:t>
            </a:r>
          </a:p>
        </p:txBody>
      </p:sp>
      <p:pic>
        <p:nvPicPr>
          <p:cNvPr id="4" name="Picture 3"/>
          <p:cNvPicPr>
            <a:picLocks noChangeAspect="1"/>
          </p:cNvPicPr>
          <p:nvPr/>
        </p:nvPicPr>
        <p:blipFill>
          <a:blip r:embed="rId2"/>
          <a:stretch>
            <a:fillRect/>
          </a:stretch>
        </p:blipFill>
        <p:spPr>
          <a:xfrm>
            <a:off x="5274129" y="1236436"/>
            <a:ext cx="6917871" cy="5597562"/>
          </a:xfrm>
          <a:prstGeom prst="rect">
            <a:avLst/>
          </a:prstGeom>
        </p:spPr>
      </p:pic>
      <p:sp>
        <p:nvSpPr>
          <p:cNvPr id="6" name="TextBox 5"/>
          <p:cNvSpPr txBox="1"/>
          <p:nvPr/>
        </p:nvSpPr>
        <p:spPr>
          <a:xfrm>
            <a:off x="9238614" y="5653239"/>
            <a:ext cx="891122" cy="215444"/>
          </a:xfrm>
          <a:prstGeom prst="rect">
            <a:avLst/>
          </a:prstGeom>
          <a:solidFill>
            <a:schemeClr val="bg1"/>
          </a:solidFill>
        </p:spPr>
        <p:txBody>
          <a:bodyPr wrap="square" lIns="0" tIns="0" rIns="0" bIns="0" rtlCol="0">
            <a:spAutoFit/>
          </a:bodyPr>
          <a:lstStyle/>
          <a:p>
            <a:pPr algn="ctr"/>
            <a:r>
              <a:rPr lang="en-US" sz="1400" b="1" i="1">
                <a:latin typeface="Times New Roman" charset="0"/>
                <a:ea typeface="Times New Roman" charset="0"/>
                <a:cs typeface="Times New Roman" charset="0"/>
              </a:rPr>
              <a:t>AC(3-0)</a:t>
            </a:r>
          </a:p>
        </p:txBody>
      </p:sp>
      <p:sp>
        <p:nvSpPr>
          <p:cNvPr id="5" name="TextBox 4"/>
          <p:cNvSpPr txBox="1"/>
          <p:nvPr/>
        </p:nvSpPr>
        <p:spPr>
          <a:xfrm>
            <a:off x="272715" y="1690688"/>
            <a:ext cx="835485" cy="461665"/>
          </a:xfrm>
          <a:prstGeom prst="rect">
            <a:avLst/>
          </a:prstGeom>
          <a:solidFill>
            <a:srgbClr val="C00000"/>
          </a:solidFill>
        </p:spPr>
        <p:txBody>
          <a:bodyPr wrap="none" rtlCol="0">
            <a:spAutoFit/>
          </a:bodyPr>
          <a:lstStyle/>
          <a:p>
            <a:r>
              <a:rPr lang="en-US" sz="2400">
                <a:solidFill>
                  <a:schemeClr val="bg1"/>
                </a:solidFill>
              </a:rPr>
              <a:t>Goal</a:t>
            </a:r>
          </a:p>
        </p:txBody>
      </p:sp>
      <p:sp>
        <p:nvSpPr>
          <p:cNvPr id="7" name="TextBox 6"/>
          <p:cNvSpPr txBox="1"/>
          <p:nvPr/>
        </p:nvSpPr>
        <p:spPr>
          <a:xfrm>
            <a:off x="224588" y="4233362"/>
            <a:ext cx="835485" cy="461665"/>
          </a:xfrm>
          <a:prstGeom prst="rect">
            <a:avLst/>
          </a:prstGeom>
          <a:solidFill>
            <a:srgbClr val="00B0F0"/>
          </a:solidFill>
        </p:spPr>
        <p:txBody>
          <a:bodyPr wrap="none" rtlCol="0">
            <a:spAutoFit/>
          </a:bodyPr>
          <a:lstStyle/>
          <a:p>
            <a:r>
              <a:rPr lang="en-US" sz="2400" dirty="0">
                <a:solidFill>
                  <a:schemeClr val="bg1"/>
                </a:solidFill>
              </a:rPr>
              <a:t>Note</a:t>
            </a:r>
          </a:p>
        </p:txBody>
      </p:sp>
      <p:sp>
        <p:nvSpPr>
          <p:cNvPr id="8" name="Oval 7"/>
          <p:cNvSpPr/>
          <p:nvPr/>
        </p:nvSpPr>
        <p:spPr>
          <a:xfrm>
            <a:off x="7170009" y="2381475"/>
            <a:ext cx="3753853" cy="27491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264536" y="3083672"/>
            <a:ext cx="4148102" cy="27491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712809" y="4291424"/>
            <a:ext cx="4851503" cy="1830702"/>
          </a:xfrm>
          <a:prstGeom prst="roundRect">
            <a:avLst>
              <a:gd name="adj" fmla="val 3823"/>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rot="16200000">
            <a:off x="10746140" y="5051534"/>
            <a:ext cx="2005677" cy="369332"/>
          </a:xfrm>
          <a:prstGeom prst="rect">
            <a:avLst/>
          </a:prstGeom>
          <a:noFill/>
        </p:spPr>
        <p:txBody>
          <a:bodyPr wrap="none" rtlCol="0">
            <a:spAutoFit/>
          </a:bodyPr>
          <a:lstStyle/>
          <a:p>
            <a:r>
              <a:rPr lang="en-US" b="1">
                <a:solidFill>
                  <a:srgbClr val="C00000"/>
                </a:solidFill>
              </a:rPr>
              <a:t>Subroutine code</a:t>
            </a:r>
          </a:p>
        </p:txBody>
      </p:sp>
      <p:sp>
        <p:nvSpPr>
          <p:cNvPr id="12" name="Rounded Rectangle 11"/>
          <p:cNvSpPr/>
          <p:nvPr/>
        </p:nvSpPr>
        <p:spPr>
          <a:xfrm>
            <a:off x="6712808" y="2183051"/>
            <a:ext cx="4851503" cy="1576149"/>
          </a:xfrm>
          <a:prstGeom prst="roundRect">
            <a:avLst>
              <a:gd name="adj" fmla="val 3823"/>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rot="16200000">
            <a:off x="10924339" y="2786458"/>
            <a:ext cx="1710725" cy="369332"/>
          </a:xfrm>
          <a:prstGeom prst="rect">
            <a:avLst/>
          </a:prstGeom>
          <a:noFill/>
        </p:spPr>
        <p:txBody>
          <a:bodyPr wrap="none" rtlCol="0">
            <a:spAutoFit/>
          </a:bodyPr>
          <a:lstStyle/>
          <a:p>
            <a:r>
              <a:rPr lang="en-US" b="1" dirty="0"/>
              <a:t>Main program</a:t>
            </a:r>
          </a:p>
        </p:txBody>
      </p:sp>
    </p:spTree>
    <p:extLst>
      <p:ext uri="{BB962C8B-B14F-4D97-AF65-F5344CB8AC3E}">
        <p14:creationId xmlns:p14="http://schemas.microsoft.com/office/powerpoint/2010/main" val="1334407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r>
              <a:rPr lang="en-US" dirty="0"/>
              <a:t>Subroutine </a:t>
            </a:r>
            <a:r>
              <a:rPr lang="en-US" dirty="0">
                <a:solidFill>
                  <a:srgbClr val="00B0F0"/>
                </a:solidFill>
              </a:rPr>
              <a:t>example</a:t>
            </a:r>
          </a:p>
        </p:txBody>
      </p:sp>
      <p:pic>
        <p:nvPicPr>
          <p:cNvPr id="4" name="Picture 3"/>
          <p:cNvPicPr>
            <a:picLocks noChangeAspect="1"/>
          </p:cNvPicPr>
          <p:nvPr/>
        </p:nvPicPr>
        <p:blipFill>
          <a:blip r:embed="rId2"/>
          <a:stretch>
            <a:fillRect/>
          </a:stretch>
        </p:blipFill>
        <p:spPr>
          <a:xfrm>
            <a:off x="838200" y="1105807"/>
            <a:ext cx="6917871" cy="5597562"/>
          </a:xfrm>
          <a:prstGeom prst="rect">
            <a:avLst/>
          </a:prstGeom>
        </p:spPr>
      </p:pic>
      <p:cxnSp>
        <p:nvCxnSpPr>
          <p:cNvPr id="7" name="Straight Arrow Connector 6"/>
          <p:cNvCxnSpPr/>
          <p:nvPr/>
        </p:nvCxnSpPr>
        <p:spPr>
          <a:xfrm flipH="1" flipV="1">
            <a:off x="6384472" y="2383971"/>
            <a:ext cx="2563585" cy="147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8948057" y="1616193"/>
            <a:ext cx="3243943" cy="4801314"/>
          </a:xfrm>
          <a:prstGeom prst="rect">
            <a:avLst/>
          </a:prstGeom>
          <a:noFill/>
        </p:spPr>
        <p:txBody>
          <a:bodyPr wrap="square" rtlCol="0">
            <a:spAutoFit/>
          </a:bodyPr>
          <a:lstStyle/>
          <a:p>
            <a:r>
              <a:rPr lang="en-US" b="1" dirty="0">
                <a:solidFill>
                  <a:srgbClr val="C00000"/>
                </a:solidFill>
              </a:rPr>
              <a:t>@ T2: </a:t>
            </a:r>
          </a:p>
          <a:p>
            <a:r>
              <a:rPr lang="en-US" dirty="0"/>
              <a:t>we put the address field (lower 12 bits) of BSA SH4 in AR, this means we put 109 in AR.</a:t>
            </a:r>
          </a:p>
          <a:p>
            <a:endParaRPr lang="en-US" b="1" dirty="0"/>
          </a:p>
          <a:p>
            <a:r>
              <a:rPr lang="en-US" b="1" dirty="0">
                <a:solidFill>
                  <a:srgbClr val="C00000"/>
                </a:solidFill>
              </a:rPr>
              <a:t>@ T4:</a:t>
            </a:r>
            <a:r>
              <a:rPr lang="en-US" dirty="0">
                <a:solidFill>
                  <a:srgbClr val="C00000"/>
                </a:solidFill>
              </a:rPr>
              <a:t> </a:t>
            </a:r>
            <a:br>
              <a:rPr lang="en-US" dirty="0"/>
            </a:br>
            <a:endParaRPr lang="en-US" dirty="0"/>
          </a:p>
          <a:p>
            <a:pPr marL="285750" indent="-285750">
              <a:buFont typeface="Arial" panose="020B0604020202020204" pitchFamily="34" charset="0"/>
              <a:buChar char="•"/>
            </a:pPr>
            <a:r>
              <a:rPr lang="en-US" dirty="0"/>
              <a:t>PC is already= 102, which means M[AR] </a:t>
            </a:r>
            <a:r>
              <a:rPr lang="en-US" dirty="0">
                <a:sym typeface="Wingdings" pitchFamily="2" charset="2"/>
              </a:rPr>
              <a:t></a:t>
            </a:r>
            <a:r>
              <a:rPr lang="en-US" dirty="0"/>
              <a:t> 102, this means M[109] = 102.</a:t>
            </a:r>
          </a:p>
          <a:p>
            <a:pPr marL="285750" indent="-285750">
              <a:buFont typeface="Arial" panose="020B0604020202020204" pitchFamily="34" charset="0"/>
              <a:buChar char="•"/>
            </a:pPr>
            <a:r>
              <a:rPr lang="en-US" dirty="0"/>
              <a:t>AR</a:t>
            </a:r>
            <a:r>
              <a:rPr lang="en-US" dirty="0">
                <a:sym typeface="Wingdings" pitchFamily="2" charset="2"/>
              </a:rPr>
              <a:t></a:t>
            </a:r>
            <a:r>
              <a:rPr lang="en-US" dirty="0"/>
              <a:t>AR+1 = 10A </a:t>
            </a:r>
          </a:p>
          <a:p>
            <a:endParaRPr lang="en-US" dirty="0"/>
          </a:p>
          <a:p>
            <a:r>
              <a:rPr lang="en-US" b="1" dirty="0">
                <a:solidFill>
                  <a:srgbClr val="C00000"/>
                </a:solidFill>
              </a:rPr>
              <a:t>@ T5:</a:t>
            </a:r>
            <a:r>
              <a:rPr lang="en-US" dirty="0">
                <a:solidFill>
                  <a:srgbClr val="C00000"/>
                </a:solidFill>
              </a:rPr>
              <a:t> </a:t>
            </a:r>
            <a:br>
              <a:rPr lang="en-US" dirty="0"/>
            </a:br>
            <a:r>
              <a:rPr lang="en-US" dirty="0"/>
              <a:t>PC</a:t>
            </a:r>
            <a:r>
              <a:rPr lang="en-US" dirty="0">
                <a:sym typeface="Wingdings" pitchFamily="2" charset="2"/>
              </a:rPr>
              <a:t></a:t>
            </a:r>
            <a:r>
              <a:rPr lang="en-US" dirty="0"/>
              <a:t> 10A and SC</a:t>
            </a:r>
            <a:r>
              <a:rPr lang="en-US" dirty="0">
                <a:sym typeface="Wingdings" pitchFamily="2" charset="2"/>
              </a:rPr>
              <a:t></a:t>
            </a:r>
            <a:r>
              <a:rPr lang="en-US" dirty="0"/>
              <a:t>0 which means we will start executing the CIL instructions next.</a:t>
            </a:r>
          </a:p>
        </p:txBody>
      </p:sp>
      <p:pic>
        <p:nvPicPr>
          <p:cNvPr id="9" name="Picture 8"/>
          <p:cNvPicPr>
            <a:picLocks noChangeAspect="1"/>
          </p:cNvPicPr>
          <p:nvPr/>
        </p:nvPicPr>
        <p:blipFill>
          <a:blip r:embed="rId3"/>
          <a:stretch>
            <a:fillRect/>
          </a:stretch>
        </p:blipFill>
        <p:spPr>
          <a:xfrm>
            <a:off x="7888460" y="311892"/>
            <a:ext cx="4303540" cy="1092784"/>
          </a:xfrm>
          <a:prstGeom prst="rect">
            <a:avLst/>
          </a:prstGeom>
        </p:spPr>
      </p:pic>
      <p:cxnSp>
        <p:nvCxnSpPr>
          <p:cNvPr id="11" name="Straight Arrow Connector 10"/>
          <p:cNvCxnSpPr>
            <a:cxnSpLocks/>
            <a:stCxn id="8" idx="1"/>
          </p:cNvCxnSpPr>
          <p:nvPr/>
        </p:nvCxnSpPr>
        <p:spPr>
          <a:xfrm flipH="1">
            <a:off x="6726265" y="4016850"/>
            <a:ext cx="2221792" cy="4966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785367" y="5522611"/>
            <a:ext cx="891122" cy="215444"/>
          </a:xfrm>
          <a:prstGeom prst="rect">
            <a:avLst/>
          </a:prstGeom>
          <a:solidFill>
            <a:schemeClr val="bg1"/>
          </a:solidFill>
        </p:spPr>
        <p:txBody>
          <a:bodyPr wrap="square" lIns="0" tIns="0" rIns="0" bIns="0" rtlCol="0">
            <a:spAutoFit/>
          </a:bodyPr>
          <a:lstStyle/>
          <a:p>
            <a:pPr algn="ctr"/>
            <a:r>
              <a:rPr lang="en-US" sz="1400" b="1" i="1">
                <a:latin typeface="Times New Roman" charset="0"/>
                <a:ea typeface="Times New Roman" charset="0"/>
                <a:cs typeface="Times New Roman" charset="0"/>
              </a:rPr>
              <a:t>AC(3-0)</a:t>
            </a:r>
          </a:p>
        </p:txBody>
      </p:sp>
    </p:spTree>
    <p:extLst>
      <p:ext uri="{BB962C8B-B14F-4D97-AF65-F5344CB8AC3E}">
        <p14:creationId xmlns:p14="http://schemas.microsoft.com/office/powerpoint/2010/main" val="1159720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r>
              <a:rPr lang="en-US" dirty="0"/>
              <a:t>Subroutine </a:t>
            </a:r>
            <a:r>
              <a:rPr lang="en-US" dirty="0">
                <a:solidFill>
                  <a:srgbClr val="00B0F0"/>
                </a:solidFill>
              </a:rPr>
              <a:t>example</a:t>
            </a:r>
          </a:p>
        </p:txBody>
      </p:sp>
      <p:pic>
        <p:nvPicPr>
          <p:cNvPr id="4" name="Picture 3"/>
          <p:cNvPicPr>
            <a:picLocks noChangeAspect="1"/>
          </p:cNvPicPr>
          <p:nvPr/>
        </p:nvPicPr>
        <p:blipFill>
          <a:blip r:embed="rId2"/>
          <a:stretch>
            <a:fillRect/>
          </a:stretch>
        </p:blipFill>
        <p:spPr>
          <a:xfrm>
            <a:off x="838200" y="1105807"/>
            <a:ext cx="6917871" cy="5597562"/>
          </a:xfrm>
          <a:prstGeom prst="rect">
            <a:avLst/>
          </a:prstGeom>
        </p:spPr>
      </p:pic>
      <p:cxnSp>
        <p:nvCxnSpPr>
          <p:cNvPr id="11" name="Straight Arrow Connector 10"/>
          <p:cNvCxnSpPr>
            <a:stCxn id="3" idx="1"/>
          </p:cNvCxnSpPr>
          <p:nvPr/>
        </p:nvCxnSpPr>
        <p:spPr>
          <a:xfrm flipH="1">
            <a:off x="4150360" y="521757"/>
            <a:ext cx="4245580" cy="51036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395940" y="290924"/>
            <a:ext cx="3625416" cy="461665"/>
          </a:xfrm>
          <a:prstGeom prst="rect">
            <a:avLst/>
          </a:prstGeom>
          <a:noFill/>
        </p:spPr>
        <p:txBody>
          <a:bodyPr wrap="none" rtlCol="0">
            <a:spAutoFit/>
          </a:bodyPr>
          <a:lstStyle/>
          <a:p>
            <a:r>
              <a:rPr lang="en-US" sz="2400" dirty="0"/>
              <a:t>Why is the AND needed?</a:t>
            </a:r>
          </a:p>
        </p:txBody>
      </p:sp>
      <p:sp>
        <p:nvSpPr>
          <p:cNvPr id="10" name="TextBox 9"/>
          <p:cNvSpPr txBox="1"/>
          <p:nvPr/>
        </p:nvSpPr>
        <p:spPr>
          <a:xfrm>
            <a:off x="4817916" y="5517717"/>
            <a:ext cx="891122" cy="215444"/>
          </a:xfrm>
          <a:prstGeom prst="rect">
            <a:avLst/>
          </a:prstGeom>
          <a:solidFill>
            <a:schemeClr val="bg1"/>
          </a:solidFill>
        </p:spPr>
        <p:txBody>
          <a:bodyPr wrap="square" lIns="0" tIns="0" rIns="0" bIns="0" rtlCol="0">
            <a:spAutoFit/>
          </a:bodyPr>
          <a:lstStyle/>
          <a:p>
            <a:pPr algn="ctr"/>
            <a:r>
              <a:rPr lang="en-US" sz="1400" b="1" i="1">
                <a:latin typeface="Times New Roman" charset="0"/>
                <a:ea typeface="Times New Roman" charset="0"/>
                <a:cs typeface="Times New Roman" charset="0"/>
              </a:rPr>
              <a:t>AC(3-0)</a:t>
            </a:r>
          </a:p>
        </p:txBody>
      </p:sp>
      <p:sp>
        <p:nvSpPr>
          <p:cNvPr id="12" name="Rectangular Callout 11"/>
          <p:cNvSpPr/>
          <p:nvPr/>
        </p:nvSpPr>
        <p:spPr>
          <a:xfrm>
            <a:off x="8496819" y="906989"/>
            <a:ext cx="3524536" cy="3331146"/>
          </a:xfrm>
          <a:prstGeom prst="wedgeRectCallout">
            <a:avLst>
              <a:gd name="adj1" fmla="val 21189"/>
              <a:gd name="adj2" fmla="val -547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C000"/>
                </a:solidFill>
              </a:rPr>
              <a:t>Answer</a:t>
            </a:r>
          </a:p>
          <a:p>
            <a:pPr algn="ctr"/>
            <a:endParaRPr lang="en-US" dirty="0"/>
          </a:p>
          <a:p>
            <a:pPr marL="285750" indent="-285750">
              <a:buFont typeface="Arial" charset="0"/>
              <a:buChar char="•"/>
            </a:pPr>
            <a:r>
              <a:rPr lang="en-US" dirty="0"/>
              <a:t>The CIL is a circulate which means the lower 4 bits of the AC were actually the higher 3 bits before the circulation  and the E bit but we need LOGICAL shift</a:t>
            </a:r>
          </a:p>
          <a:p>
            <a:pPr marL="285750" indent="-285750">
              <a:buFont typeface="Arial" charset="0"/>
              <a:buChar char="•"/>
            </a:pPr>
            <a:r>
              <a:rPr lang="en-US" dirty="0"/>
              <a:t>Hence we masked (</a:t>
            </a:r>
            <a:r>
              <a:rPr lang="en-US" dirty="0" err="1"/>
              <a:t>ANDed</a:t>
            </a:r>
            <a:r>
              <a:rPr lang="en-US" dirty="0"/>
              <a:t>) them with FFF0 to set the lower 4 bits to zero.</a:t>
            </a:r>
          </a:p>
        </p:txBody>
      </p:sp>
      <p:sp>
        <p:nvSpPr>
          <p:cNvPr id="9" name="Rectangular Callout 8"/>
          <p:cNvSpPr/>
          <p:nvPr/>
        </p:nvSpPr>
        <p:spPr>
          <a:xfrm>
            <a:off x="7756071" y="4468967"/>
            <a:ext cx="4435929" cy="2125754"/>
          </a:xfrm>
          <a:prstGeom prst="wedgeRectCallout">
            <a:avLst>
              <a:gd name="adj1" fmla="val 21629"/>
              <a:gd name="adj2" fmla="val -59353"/>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charset="0"/>
              <a:buChar char="•"/>
            </a:pPr>
            <a:r>
              <a:rPr lang="en-US" sz="2000" b="1" dirty="0">
                <a:solidFill>
                  <a:schemeClr val="accent2">
                    <a:lumMod val="75000"/>
                  </a:schemeClr>
                </a:solidFill>
              </a:rPr>
              <a:t>0001</a:t>
            </a:r>
            <a:r>
              <a:rPr lang="en-US" sz="2000" dirty="0">
                <a:solidFill>
                  <a:schemeClr val="tx1"/>
                </a:solidFill>
              </a:rPr>
              <a:t>001000110100 becomes 001000110100</a:t>
            </a:r>
            <a:r>
              <a:rPr lang="en-US" sz="2000" b="1" dirty="0">
                <a:solidFill>
                  <a:srgbClr val="00B0F0"/>
                </a:solidFill>
              </a:rPr>
              <a:t>1</a:t>
            </a:r>
            <a:r>
              <a:rPr lang="en-US" sz="2000" b="1" dirty="0">
                <a:solidFill>
                  <a:schemeClr val="accent2">
                    <a:lumMod val="75000"/>
                  </a:schemeClr>
                </a:solidFill>
              </a:rPr>
              <a:t>000</a:t>
            </a:r>
            <a:r>
              <a:rPr lang="en-US" sz="2000" dirty="0">
                <a:solidFill>
                  <a:schemeClr val="tx1"/>
                </a:solidFill>
              </a:rPr>
              <a:t> after four CIL</a:t>
            </a:r>
            <a:br>
              <a:rPr lang="en-US" sz="2000" dirty="0">
                <a:solidFill>
                  <a:schemeClr val="tx1"/>
                </a:solidFill>
              </a:rPr>
            </a:br>
            <a:r>
              <a:rPr lang="en-US" sz="2000" dirty="0">
                <a:solidFill>
                  <a:schemeClr val="tx1"/>
                </a:solidFill>
              </a:rPr>
              <a:t>(</a:t>
            </a:r>
            <a:r>
              <a:rPr lang="en-US" sz="2000" i="1" dirty="0">
                <a:solidFill>
                  <a:schemeClr val="tx1"/>
                </a:solidFill>
              </a:rPr>
              <a:t>assuming E was 1</a:t>
            </a:r>
            <a:r>
              <a:rPr lang="en-US" sz="2000" dirty="0">
                <a:solidFill>
                  <a:schemeClr val="tx1"/>
                </a:solidFill>
              </a:rPr>
              <a:t>)</a:t>
            </a:r>
          </a:p>
          <a:p>
            <a:pPr marL="342900" indent="-342900">
              <a:buFont typeface="Arial" charset="0"/>
              <a:buChar char="•"/>
            </a:pPr>
            <a:endParaRPr lang="en-US" sz="2000" dirty="0">
              <a:solidFill>
                <a:schemeClr val="tx1"/>
              </a:solidFill>
            </a:endParaRPr>
          </a:p>
          <a:p>
            <a:pPr marL="342900" indent="-342900">
              <a:buFont typeface="Arial" charset="0"/>
              <a:buChar char="•"/>
            </a:pPr>
            <a:r>
              <a:rPr lang="en-US" sz="2000" dirty="0">
                <a:solidFill>
                  <a:schemeClr val="tx1"/>
                </a:solidFill>
              </a:rPr>
              <a:t>After </a:t>
            </a:r>
            <a:r>
              <a:rPr lang="en-US" sz="2000" dirty="0" err="1">
                <a:solidFill>
                  <a:schemeClr val="tx1"/>
                </a:solidFill>
              </a:rPr>
              <a:t>ANDing</a:t>
            </a:r>
            <a:r>
              <a:rPr lang="en-US" sz="2000" dirty="0">
                <a:solidFill>
                  <a:schemeClr val="tx1"/>
                </a:solidFill>
              </a:rPr>
              <a:t> with FFF0, it becomes  001000110100</a:t>
            </a:r>
            <a:r>
              <a:rPr lang="en-US" sz="2000" b="1" dirty="0">
                <a:solidFill>
                  <a:schemeClr val="tx1"/>
                </a:solidFill>
              </a:rPr>
              <a:t>0000</a:t>
            </a:r>
          </a:p>
        </p:txBody>
      </p:sp>
    </p:spTree>
    <p:extLst>
      <p:ext uri="{BB962C8B-B14F-4D97-AF65-F5344CB8AC3E}">
        <p14:creationId xmlns:p14="http://schemas.microsoft.com/office/powerpoint/2010/main" val="1245377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lstStyle/>
          <a:p>
            <a:r>
              <a:rPr lang="en-US" dirty="0"/>
              <a:t>Subroutine </a:t>
            </a:r>
            <a:r>
              <a:rPr lang="en-US" dirty="0">
                <a:solidFill>
                  <a:srgbClr val="00B0F0"/>
                </a:solidFill>
              </a:rPr>
              <a:t>example</a:t>
            </a:r>
          </a:p>
        </p:txBody>
      </p:sp>
      <p:pic>
        <p:nvPicPr>
          <p:cNvPr id="4" name="Picture 3"/>
          <p:cNvPicPr>
            <a:picLocks noChangeAspect="1"/>
          </p:cNvPicPr>
          <p:nvPr/>
        </p:nvPicPr>
        <p:blipFill>
          <a:blip r:embed="rId2"/>
          <a:stretch>
            <a:fillRect/>
          </a:stretch>
        </p:blipFill>
        <p:spPr>
          <a:xfrm>
            <a:off x="838200" y="1105807"/>
            <a:ext cx="6917871" cy="5597562"/>
          </a:xfrm>
          <a:prstGeom prst="rect">
            <a:avLst/>
          </a:prstGeom>
        </p:spPr>
      </p:pic>
      <p:cxnSp>
        <p:nvCxnSpPr>
          <p:cNvPr id="11" name="Straight Arrow Connector 10"/>
          <p:cNvCxnSpPr/>
          <p:nvPr/>
        </p:nvCxnSpPr>
        <p:spPr>
          <a:xfrm flipH="1">
            <a:off x="6663921" y="2226062"/>
            <a:ext cx="2273165" cy="360755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7756071" y="1764397"/>
            <a:ext cx="3209533" cy="461665"/>
          </a:xfrm>
          <a:prstGeom prst="rect">
            <a:avLst/>
          </a:prstGeom>
          <a:noFill/>
        </p:spPr>
        <p:txBody>
          <a:bodyPr wrap="none" rtlCol="0">
            <a:spAutoFit/>
          </a:bodyPr>
          <a:lstStyle/>
          <a:p>
            <a:r>
              <a:rPr lang="en-US" sz="2400" b="1" dirty="0">
                <a:solidFill>
                  <a:schemeClr val="accent2">
                    <a:lumMod val="75000"/>
                  </a:schemeClr>
                </a:solidFill>
              </a:rPr>
              <a:t>What happens here?</a:t>
            </a:r>
          </a:p>
        </p:txBody>
      </p:sp>
      <p:sp>
        <p:nvSpPr>
          <p:cNvPr id="10" name="TextBox 9"/>
          <p:cNvSpPr txBox="1"/>
          <p:nvPr/>
        </p:nvSpPr>
        <p:spPr>
          <a:xfrm>
            <a:off x="4817916" y="5517717"/>
            <a:ext cx="891122" cy="215444"/>
          </a:xfrm>
          <a:prstGeom prst="rect">
            <a:avLst/>
          </a:prstGeom>
          <a:solidFill>
            <a:schemeClr val="bg1"/>
          </a:solidFill>
        </p:spPr>
        <p:txBody>
          <a:bodyPr wrap="square" lIns="0" tIns="0" rIns="0" bIns="0" rtlCol="0">
            <a:spAutoFit/>
          </a:bodyPr>
          <a:lstStyle/>
          <a:p>
            <a:pPr algn="ctr"/>
            <a:r>
              <a:rPr lang="en-US" sz="1400" b="1" i="1">
                <a:latin typeface="Times New Roman" charset="0"/>
                <a:ea typeface="Times New Roman" charset="0"/>
                <a:cs typeface="Times New Roman" charset="0"/>
              </a:rPr>
              <a:t>AC(3-0)</a:t>
            </a:r>
          </a:p>
        </p:txBody>
      </p:sp>
      <p:sp>
        <p:nvSpPr>
          <p:cNvPr id="12" name="Rectangular Callout 11"/>
          <p:cNvSpPr/>
          <p:nvPr/>
        </p:nvSpPr>
        <p:spPr>
          <a:xfrm>
            <a:off x="8843062" y="2687727"/>
            <a:ext cx="3026229" cy="3916019"/>
          </a:xfrm>
          <a:prstGeom prst="wedgeRectCallout">
            <a:avLst>
              <a:gd name="adj1" fmla="val 9805"/>
              <a:gd name="adj2" fmla="val -59861"/>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Answer</a:t>
            </a:r>
          </a:p>
          <a:p>
            <a:pPr algn="ctr"/>
            <a:endParaRPr lang="en-US" sz="2400" dirty="0"/>
          </a:p>
          <a:p>
            <a:pPr marL="285750" indent="-285750">
              <a:buFont typeface="Arial" charset="0"/>
              <a:buChar char="•"/>
            </a:pPr>
            <a:r>
              <a:rPr lang="en-US" dirty="0"/>
              <a:t>Normal BSA behavior.</a:t>
            </a:r>
          </a:p>
          <a:p>
            <a:pPr marL="285750" indent="-285750">
              <a:buFont typeface="Arial" charset="0"/>
              <a:buChar char="•"/>
            </a:pPr>
            <a:r>
              <a:rPr lang="en-US" dirty="0"/>
              <a:t>When subroutine ends, we have a </a:t>
            </a:r>
            <a:r>
              <a:rPr lang="en-US" u="sng" dirty="0">
                <a:solidFill>
                  <a:schemeClr val="accent2"/>
                </a:solidFill>
              </a:rPr>
              <a:t>indirect</a:t>
            </a:r>
            <a:r>
              <a:rPr lang="en-US" dirty="0"/>
              <a:t> branch to 109.</a:t>
            </a:r>
          </a:p>
          <a:p>
            <a:pPr marL="285750" indent="-285750">
              <a:buFont typeface="Arial" charset="0"/>
              <a:buChar char="•"/>
            </a:pPr>
            <a:endParaRPr lang="en-US" dirty="0"/>
          </a:p>
          <a:p>
            <a:pPr marL="285750" indent="-285750">
              <a:buFont typeface="Arial" charset="0"/>
              <a:buChar char="•"/>
            </a:pPr>
            <a:r>
              <a:rPr lang="en-US" dirty="0"/>
              <a:t>So we go to [109], we find there 102, because we put it there!</a:t>
            </a:r>
          </a:p>
          <a:p>
            <a:pPr marL="285750" indent="-285750">
              <a:buFont typeface="Arial" charset="0"/>
              <a:buChar char="•"/>
            </a:pPr>
            <a:endParaRPr lang="en-US" dirty="0"/>
          </a:p>
          <a:p>
            <a:pPr marL="285750" indent="-285750">
              <a:buFont typeface="Arial" charset="0"/>
              <a:buChar char="•"/>
            </a:pPr>
            <a:r>
              <a:rPr lang="en-US" dirty="0"/>
              <a:t>Branch to 102 and continue the program.</a:t>
            </a:r>
          </a:p>
        </p:txBody>
      </p:sp>
    </p:spTree>
    <p:extLst>
      <p:ext uri="{BB962C8B-B14F-4D97-AF65-F5344CB8AC3E}">
        <p14:creationId xmlns:p14="http://schemas.microsoft.com/office/powerpoint/2010/main" val="1078280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more advanced Subroutine</a:t>
            </a:r>
          </a:p>
        </p:txBody>
      </p:sp>
      <p:sp>
        <p:nvSpPr>
          <p:cNvPr id="3" name="Content Placeholder 2"/>
          <p:cNvSpPr>
            <a:spLocks noGrp="1"/>
          </p:cNvSpPr>
          <p:nvPr>
            <p:ph idx="1"/>
          </p:nvPr>
        </p:nvSpPr>
        <p:spPr/>
        <p:txBody>
          <a:bodyPr/>
          <a:lstStyle/>
          <a:p>
            <a:r>
              <a:rPr lang="en-US" dirty="0"/>
              <a:t>Another useful use of subroutines is passing parameters (values) to it and the subroutine returns a computed value using the passed parameters.</a:t>
            </a:r>
          </a:p>
          <a:p>
            <a:endParaRPr lang="en-US" dirty="0"/>
          </a:p>
          <a:p>
            <a:r>
              <a:rPr lang="en-US" dirty="0"/>
              <a:t>One parameter can be passed using the accumulator like the previous example but when more parameters are to be sent, we need to store them in memory and let the subroutine reads them from there.</a:t>
            </a:r>
          </a:p>
        </p:txBody>
      </p:sp>
    </p:spTree>
    <p:extLst>
      <p:ext uri="{BB962C8B-B14F-4D97-AF65-F5344CB8AC3E}">
        <p14:creationId xmlns:p14="http://schemas.microsoft.com/office/powerpoint/2010/main" val="1886214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Example 2</a:t>
            </a:r>
          </a:p>
        </p:txBody>
      </p:sp>
      <p:sp>
        <p:nvSpPr>
          <p:cNvPr id="3" name="Content Placeholder 2"/>
          <p:cNvSpPr>
            <a:spLocks noGrp="1"/>
          </p:cNvSpPr>
          <p:nvPr>
            <p:ph idx="1"/>
          </p:nvPr>
        </p:nvSpPr>
        <p:spPr>
          <a:xfrm>
            <a:off x="341244" y="1845503"/>
            <a:ext cx="3813313" cy="4351338"/>
          </a:xfrm>
        </p:spPr>
        <p:txBody>
          <a:bodyPr/>
          <a:lstStyle/>
          <a:p>
            <a:pPr marL="0" indent="0">
              <a:buNone/>
            </a:pPr>
            <a:r>
              <a:rPr lang="en-US" dirty="0" err="1">
                <a:latin typeface="Courier" charset="0"/>
                <a:ea typeface="Courier" charset="0"/>
                <a:cs typeface="Courier" charset="0"/>
              </a:rPr>
              <a:t>int</a:t>
            </a:r>
            <a:r>
              <a:rPr lang="en-US" dirty="0">
                <a:latin typeface="Courier" charset="0"/>
                <a:ea typeface="Courier" charset="0"/>
                <a:cs typeface="Courier" charset="0"/>
              </a:rPr>
              <a:t> X= 15094;</a:t>
            </a:r>
          </a:p>
          <a:p>
            <a:pPr marL="0" indent="0">
              <a:buNone/>
            </a:pPr>
            <a:r>
              <a:rPr lang="en-US" dirty="0" err="1">
                <a:latin typeface="Courier" charset="0"/>
                <a:ea typeface="Courier" charset="0"/>
                <a:cs typeface="Courier" charset="0"/>
              </a:rPr>
              <a:t>int</a:t>
            </a:r>
            <a:r>
              <a:rPr lang="en-US" dirty="0">
                <a:latin typeface="Courier" charset="0"/>
                <a:ea typeface="Courier" charset="0"/>
                <a:cs typeface="Courier" charset="0"/>
              </a:rPr>
              <a:t> M=</a:t>
            </a:r>
            <a:r>
              <a:rPr lang="is-IS" dirty="0">
                <a:latin typeface="Courier" charset="0"/>
                <a:ea typeface="Courier" charset="0"/>
                <a:cs typeface="Courier" charset="0"/>
              </a:rPr>
              <a:t> 31637;</a:t>
            </a:r>
          </a:p>
          <a:p>
            <a:pPr marL="0" indent="0">
              <a:buNone/>
            </a:pPr>
            <a:r>
              <a:rPr lang="is-IS" dirty="0">
                <a:latin typeface="Courier" charset="0"/>
                <a:ea typeface="Courier" charset="0"/>
                <a:cs typeface="Courier" charset="0"/>
              </a:rPr>
              <a:t>Y= OR(X,M);</a:t>
            </a:r>
          </a:p>
          <a:p>
            <a:pPr marL="0" indent="0">
              <a:buNone/>
            </a:pPr>
            <a:endParaRPr lang="is-IS" dirty="0">
              <a:latin typeface="Courier" charset="0"/>
              <a:ea typeface="Courier" charset="0"/>
              <a:cs typeface="Courier" charset="0"/>
            </a:endParaRPr>
          </a:p>
          <a:p>
            <a:pPr marL="0" indent="0">
              <a:buNone/>
            </a:pPr>
            <a:r>
              <a:rPr lang="is-IS" dirty="0">
                <a:latin typeface="Courier" charset="0"/>
                <a:ea typeface="Courier" charset="0"/>
                <a:cs typeface="Courier" charset="0"/>
              </a:rPr>
              <a:t>function OR(a,b)</a:t>
            </a:r>
          </a:p>
          <a:p>
            <a:pPr marL="0" indent="0">
              <a:buNone/>
            </a:pPr>
            <a:r>
              <a:rPr lang="is-IS" dirty="0">
                <a:latin typeface="Courier" charset="0"/>
                <a:ea typeface="Courier" charset="0"/>
                <a:cs typeface="Courier" charset="0"/>
              </a:rPr>
              <a:t>{return a || b;}</a:t>
            </a:r>
            <a:endParaRPr lang="en-US" dirty="0">
              <a:latin typeface="Courier" charset="0"/>
              <a:ea typeface="Courier" charset="0"/>
              <a:cs typeface="Courier" charset="0"/>
            </a:endParaRPr>
          </a:p>
        </p:txBody>
      </p:sp>
      <p:sp>
        <p:nvSpPr>
          <p:cNvPr id="4" name="TextBox 3"/>
          <p:cNvSpPr txBox="1"/>
          <p:nvPr/>
        </p:nvSpPr>
        <p:spPr>
          <a:xfrm>
            <a:off x="5801139" y="1690688"/>
            <a:ext cx="5552661" cy="3785652"/>
          </a:xfrm>
          <a:prstGeom prst="rect">
            <a:avLst/>
          </a:prstGeom>
          <a:noFill/>
        </p:spPr>
        <p:txBody>
          <a:bodyPr wrap="square" rtlCol="0">
            <a:spAutoFit/>
          </a:bodyPr>
          <a:lstStyle/>
          <a:p>
            <a:pPr marL="342900" indent="-342900">
              <a:buFont typeface="Arial" charset="0"/>
              <a:buChar char="•"/>
            </a:pPr>
            <a:r>
              <a:rPr lang="en-US" sz="2400" b="1" dirty="0">
                <a:solidFill>
                  <a:srgbClr val="C00000"/>
                </a:solidFill>
              </a:rPr>
              <a:t>Technique:</a:t>
            </a:r>
          </a:p>
          <a:p>
            <a:pPr marL="342900" indent="-342900">
              <a:buFont typeface="Arial" charset="0"/>
              <a:buChar char="•"/>
            </a:pPr>
            <a:endParaRPr lang="en-US" sz="2400" b="1" dirty="0">
              <a:solidFill>
                <a:srgbClr val="C00000"/>
              </a:solidFill>
            </a:endParaRPr>
          </a:p>
          <a:p>
            <a:pPr marL="457200" indent="-457200">
              <a:buFont typeface="+mj-lt"/>
              <a:buAutoNum type="arabicPeriod"/>
            </a:pPr>
            <a:r>
              <a:rPr lang="en-US" sz="2400" dirty="0"/>
              <a:t>We can load </a:t>
            </a:r>
            <a:r>
              <a:rPr lang="en-US" sz="2400" b="1" dirty="0"/>
              <a:t>one value </a:t>
            </a:r>
            <a:r>
              <a:rPr lang="en-US" sz="2400" dirty="0"/>
              <a:t>in the AC and </a:t>
            </a:r>
            <a:r>
              <a:rPr lang="en-US" sz="2400" b="1" dirty="0"/>
              <a:t>the other value </a:t>
            </a:r>
            <a:r>
              <a:rPr lang="en-US" sz="2400" dirty="0"/>
              <a:t>in the memory following the BSA instruction.</a:t>
            </a:r>
          </a:p>
          <a:p>
            <a:pPr marL="457200" indent="-457200">
              <a:buFont typeface="+mj-lt"/>
              <a:buAutoNum type="arabicPeriod"/>
            </a:pPr>
            <a:endParaRPr lang="en-US" sz="2400" dirty="0"/>
          </a:p>
          <a:p>
            <a:pPr marL="457200" indent="-457200">
              <a:buFont typeface="+mj-lt"/>
              <a:buAutoNum type="arabicPeriod"/>
            </a:pPr>
            <a:r>
              <a:rPr lang="en-US" sz="2400" dirty="0"/>
              <a:t>The normal subroutine “</a:t>
            </a:r>
            <a:r>
              <a:rPr lang="en-US" sz="2400" b="1" i="1" dirty="0"/>
              <a:t>return”</a:t>
            </a:r>
            <a:r>
              <a:rPr lang="en-US" sz="2400" dirty="0"/>
              <a:t> must be altered to fit our new way.</a:t>
            </a:r>
          </a:p>
          <a:p>
            <a:pPr marL="342900" indent="-342900">
              <a:buFont typeface="Arial" charset="0"/>
              <a:buChar char="•"/>
            </a:pPr>
            <a:endParaRPr lang="en-US" sz="2400" dirty="0"/>
          </a:p>
          <a:p>
            <a:pPr marL="342900" indent="-342900">
              <a:buFont typeface="Arial" charset="0"/>
              <a:buChar char="•"/>
            </a:pPr>
            <a:r>
              <a:rPr lang="en-US" sz="2400" dirty="0"/>
              <a:t>Look next.</a:t>
            </a:r>
          </a:p>
        </p:txBody>
      </p:sp>
    </p:spTree>
    <p:extLst>
      <p:ext uri="{BB962C8B-B14F-4D97-AF65-F5344CB8AC3E}">
        <p14:creationId xmlns:p14="http://schemas.microsoft.com/office/powerpoint/2010/main" val="2139280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Example 2</a:t>
            </a:r>
          </a:p>
        </p:txBody>
      </p:sp>
      <p:sp>
        <p:nvSpPr>
          <p:cNvPr id="3" name="Content Placeholder 2"/>
          <p:cNvSpPr>
            <a:spLocks noGrp="1"/>
          </p:cNvSpPr>
          <p:nvPr>
            <p:ph idx="1"/>
          </p:nvPr>
        </p:nvSpPr>
        <p:spPr>
          <a:xfrm>
            <a:off x="341244" y="1845503"/>
            <a:ext cx="3813313" cy="4351338"/>
          </a:xfrm>
        </p:spPr>
        <p:txBody>
          <a:bodyPr/>
          <a:lstStyle/>
          <a:p>
            <a:pPr marL="0" indent="0">
              <a:buNone/>
            </a:pPr>
            <a:r>
              <a:rPr lang="en-US" dirty="0" err="1">
                <a:latin typeface="Courier" charset="0"/>
                <a:ea typeface="Courier" charset="0"/>
                <a:cs typeface="Courier" charset="0"/>
              </a:rPr>
              <a:t>int</a:t>
            </a:r>
            <a:r>
              <a:rPr lang="en-US" dirty="0">
                <a:latin typeface="Courier" charset="0"/>
                <a:ea typeface="Courier" charset="0"/>
                <a:cs typeface="Courier" charset="0"/>
              </a:rPr>
              <a:t> X= 15094;</a:t>
            </a:r>
          </a:p>
          <a:p>
            <a:pPr marL="0" indent="0">
              <a:buNone/>
            </a:pPr>
            <a:r>
              <a:rPr lang="en-US" dirty="0" err="1">
                <a:latin typeface="Courier" charset="0"/>
                <a:ea typeface="Courier" charset="0"/>
                <a:cs typeface="Courier" charset="0"/>
              </a:rPr>
              <a:t>int</a:t>
            </a:r>
            <a:r>
              <a:rPr lang="en-US" dirty="0">
                <a:latin typeface="Courier" charset="0"/>
                <a:ea typeface="Courier" charset="0"/>
                <a:cs typeface="Courier" charset="0"/>
              </a:rPr>
              <a:t> M=</a:t>
            </a:r>
            <a:r>
              <a:rPr lang="is-IS" dirty="0">
                <a:latin typeface="Courier" charset="0"/>
                <a:ea typeface="Courier" charset="0"/>
                <a:cs typeface="Courier" charset="0"/>
              </a:rPr>
              <a:t> 31637;</a:t>
            </a:r>
          </a:p>
          <a:p>
            <a:pPr marL="0" indent="0">
              <a:buNone/>
            </a:pPr>
            <a:r>
              <a:rPr lang="is-IS" dirty="0">
                <a:latin typeface="Courier" charset="0"/>
                <a:ea typeface="Courier" charset="0"/>
                <a:cs typeface="Courier" charset="0"/>
              </a:rPr>
              <a:t>Y= OR(X,M);</a:t>
            </a:r>
          </a:p>
          <a:p>
            <a:pPr marL="0" indent="0">
              <a:buNone/>
            </a:pPr>
            <a:endParaRPr lang="is-IS" dirty="0">
              <a:latin typeface="Courier" charset="0"/>
              <a:ea typeface="Courier" charset="0"/>
              <a:cs typeface="Courier" charset="0"/>
            </a:endParaRPr>
          </a:p>
          <a:p>
            <a:pPr marL="0" indent="0">
              <a:buNone/>
            </a:pPr>
            <a:r>
              <a:rPr lang="is-IS" dirty="0">
                <a:latin typeface="Courier" charset="0"/>
                <a:ea typeface="Courier" charset="0"/>
                <a:cs typeface="Courier" charset="0"/>
              </a:rPr>
              <a:t>function OR(a,b)</a:t>
            </a:r>
          </a:p>
          <a:p>
            <a:pPr marL="0" indent="0">
              <a:buNone/>
            </a:pPr>
            <a:r>
              <a:rPr lang="is-IS" dirty="0">
                <a:latin typeface="Courier" charset="0"/>
                <a:ea typeface="Courier" charset="0"/>
                <a:cs typeface="Courier" charset="0"/>
              </a:rPr>
              <a:t>{return a || b;}</a:t>
            </a:r>
            <a:endParaRPr lang="en-US" dirty="0">
              <a:latin typeface="Courier" charset="0"/>
              <a:ea typeface="Courier" charset="0"/>
              <a:cs typeface="Courier" charset="0"/>
            </a:endParaRPr>
          </a:p>
        </p:txBody>
      </p:sp>
      <p:pic>
        <p:nvPicPr>
          <p:cNvPr id="5" name="Picture 4"/>
          <p:cNvPicPr>
            <a:picLocks noChangeAspect="1"/>
          </p:cNvPicPr>
          <p:nvPr/>
        </p:nvPicPr>
        <p:blipFill>
          <a:blip r:embed="rId2"/>
          <a:stretch>
            <a:fillRect/>
          </a:stretch>
        </p:blipFill>
        <p:spPr>
          <a:xfrm>
            <a:off x="4949134" y="1458635"/>
            <a:ext cx="6762474" cy="5078929"/>
          </a:xfrm>
          <a:prstGeom prst="rect">
            <a:avLst/>
          </a:prstGeom>
        </p:spPr>
      </p:pic>
      <p:sp>
        <p:nvSpPr>
          <p:cNvPr id="6" name="Rounded Rectangle 5"/>
          <p:cNvSpPr/>
          <p:nvPr/>
        </p:nvSpPr>
        <p:spPr>
          <a:xfrm>
            <a:off x="6299200" y="3862098"/>
            <a:ext cx="5412407" cy="2098435"/>
          </a:xfrm>
          <a:prstGeom prst="roundRect">
            <a:avLst>
              <a:gd name="adj" fmla="val 3823"/>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rot="16200000">
            <a:off x="10911929" y="4726648"/>
            <a:ext cx="2005677" cy="369332"/>
          </a:xfrm>
          <a:prstGeom prst="rect">
            <a:avLst/>
          </a:prstGeom>
          <a:noFill/>
        </p:spPr>
        <p:txBody>
          <a:bodyPr wrap="none" rtlCol="0">
            <a:spAutoFit/>
          </a:bodyPr>
          <a:lstStyle/>
          <a:p>
            <a:r>
              <a:rPr lang="en-US" b="1">
                <a:solidFill>
                  <a:srgbClr val="C00000"/>
                </a:solidFill>
              </a:rPr>
              <a:t>Subroutine code</a:t>
            </a:r>
          </a:p>
        </p:txBody>
      </p:sp>
      <p:sp>
        <p:nvSpPr>
          <p:cNvPr id="8" name="Rounded Rectangle 7"/>
          <p:cNvSpPr/>
          <p:nvPr/>
        </p:nvSpPr>
        <p:spPr>
          <a:xfrm>
            <a:off x="6712808" y="2183052"/>
            <a:ext cx="4851503" cy="1186682"/>
          </a:xfrm>
          <a:prstGeom prst="roundRect">
            <a:avLst>
              <a:gd name="adj" fmla="val 3823"/>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rot="16200000">
            <a:off x="10967265" y="2591726"/>
            <a:ext cx="1710725" cy="369332"/>
          </a:xfrm>
          <a:prstGeom prst="rect">
            <a:avLst/>
          </a:prstGeom>
          <a:noFill/>
        </p:spPr>
        <p:txBody>
          <a:bodyPr wrap="none" rtlCol="0">
            <a:spAutoFit/>
          </a:bodyPr>
          <a:lstStyle/>
          <a:p>
            <a:r>
              <a:rPr lang="en-US" b="1" dirty="0"/>
              <a:t>Main program</a:t>
            </a:r>
          </a:p>
        </p:txBody>
      </p:sp>
    </p:spTree>
    <p:extLst>
      <p:ext uri="{BB962C8B-B14F-4D97-AF65-F5344CB8AC3E}">
        <p14:creationId xmlns:p14="http://schemas.microsoft.com/office/powerpoint/2010/main" val="293884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Example 2: </a:t>
            </a:r>
            <a:r>
              <a:rPr lang="en-US" dirty="0">
                <a:solidFill>
                  <a:srgbClr val="C00000"/>
                </a:solidFill>
              </a:rPr>
              <a:t>Analysis (1)</a:t>
            </a:r>
          </a:p>
        </p:txBody>
      </p:sp>
      <p:pic>
        <p:nvPicPr>
          <p:cNvPr id="5" name="Picture 4"/>
          <p:cNvPicPr>
            <a:picLocks noChangeAspect="1"/>
          </p:cNvPicPr>
          <p:nvPr/>
        </p:nvPicPr>
        <p:blipFill>
          <a:blip r:embed="rId2"/>
          <a:stretch>
            <a:fillRect/>
          </a:stretch>
        </p:blipFill>
        <p:spPr>
          <a:xfrm>
            <a:off x="838200" y="1690688"/>
            <a:ext cx="6762474" cy="5078929"/>
          </a:xfrm>
          <a:prstGeom prst="rect">
            <a:avLst/>
          </a:prstGeom>
        </p:spPr>
      </p:pic>
      <p:sp>
        <p:nvSpPr>
          <p:cNvPr id="7" name="TextBox 6"/>
          <p:cNvSpPr txBox="1"/>
          <p:nvPr/>
        </p:nvSpPr>
        <p:spPr>
          <a:xfrm>
            <a:off x="4268539" y="2878079"/>
            <a:ext cx="4379725" cy="307777"/>
          </a:xfrm>
          <a:prstGeom prst="rect">
            <a:avLst/>
          </a:prstGeom>
          <a:solidFill>
            <a:srgbClr val="C00000"/>
          </a:solidFill>
        </p:spPr>
        <p:txBody>
          <a:bodyPr wrap="none" rtlCol="0">
            <a:spAutoFit/>
          </a:bodyPr>
          <a:lstStyle/>
          <a:p>
            <a:r>
              <a:rPr lang="en-US" sz="1400" dirty="0">
                <a:solidFill>
                  <a:schemeClr val="bg1"/>
                </a:solidFill>
              </a:rPr>
              <a:t>2</a:t>
            </a:r>
            <a:r>
              <a:rPr lang="en-US" sz="1400" baseline="30000" dirty="0">
                <a:solidFill>
                  <a:schemeClr val="bg1"/>
                </a:solidFill>
              </a:rPr>
              <a:t>nd</a:t>
            </a:r>
            <a:r>
              <a:rPr lang="en-US" sz="1400" dirty="0">
                <a:solidFill>
                  <a:schemeClr val="bg1"/>
                </a:solidFill>
              </a:rPr>
              <a:t> operand stored in location 202, following the BSA</a:t>
            </a:r>
          </a:p>
        </p:txBody>
      </p:sp>
      <p:sp>
        <p:nvSpPr>
          <p:cNvPr id="8" name="TextBox 7"/>
          <p:cNvSpPr txBox="1"/>
          <p:nvPr/>
        </p:nvSpPr>
        <p:spPr>
          <a:xfrm>
            <a:off x="8741044" y="2624806"/>
            <a:ext cx="3605939" cy="2585323"/>
          </a:xfrm>
          <a:prstGeom prst="rect">
            <a:avLst/>
          </a:prstGeom>
          <a:noFill/>
        </p:spPr>
        <p:txBody>
          <a:bodyPr wrap="square" rtlCol="0">
            <a:spAutoFit/>
          </a:bodyPr>
          <a:lstStyle/>
          <a:p>
            <a:r>
              <a:rPr lang="en-US" b="1" dirty="0">
                <a:solidFill>
                  <a:srgbClr val="C00000"/>
                </a:solidFill>
              </a:rPr>
              <a:t>Calling BSA:</a:t>
            </a:r>
          </a:p>
          <a:p>
            <a:r>
              <a:rPr lang="en-US" b="1" dirty="0"/>
              <a:t>@ T4:</a:t>
            </a:r>
          </a:p>
          <a:p>
            <a:r>
              <a:rPr lang="en-US" dirty="0"/>
              <a:t>PC is already 202 so</a:t>
            </a:r>
          </a:p>
          <a:p>
            <a:r>
              <a:rPr lang="en-US" dirty="0"/>
              <a:t>M[207]=202</a:t>
            </a:r>
          </a:p>
          <a:p>
            <a:r>
              <a:rPr lang="en-US" dirty="0"/>
              <a:t>AR = 208</a:t>
            </a:r>
          </a:p>
          <a:p>
            <a:endParaRPr lang="en-US" dirty="0"/>
          </a:p>
          <a:p>
            <a:r>
              <a:rPr lang="en-US" b="1" dirty="0"/>
              <a:t>@T5: </a:t>
            </a:r>
          </a:p>
          <a:p>
            <a:r>
              <a:rPr lang="en-US" dirty="0"/>
              <a:t>PC = 208 so we can start executing the subroutine</a:t>
            </a:r>
          </a:p>
        </p:txBody>
      </p:sp>
      <p:pic>
        <p:nvPicPr>
          <p:cNvPr id="9" name="Picture 8"/>
          <p:cNvPicPr>
            <a:picLocks noChangeAspect="1"/>
          </p:cNvPicPr>
          <p:nvPr/>
        </p:nvPicPr>
        <p:blipFill>
          <a:blip r:embed="rId3"/>
          <a:stretch>
            <a:fillRect/>
          </a:stretch>
        </p:blipFill>
        <p:spPr>
          <a:xfrm>
            <a:off x="8043443" y="1532022"/>
            <a:ext cx="4148557" cy="1092784"/>
          </a:xfrm>
          <a:prstGeom prst="rect">
            <a:avLst/>
          </a:prstGeom>
        </p:spPr>
      </p:pic>
      <p:sp>
        <p:nvSpPr>
          <p:cNvPr id="10" name="Rounded Rectangle 9"/>
          <p:cNvSpPr/>
          <p:nvPr/>
        </p:nvSpPr>
        <p:spPr>
          <a:xfrm>
            <a:off x="992152" y="2894121"/>
            <a:ext cx="3276388" cy="260826"/>
          </a:xfrm>
          <a:prstGeom prst="roundRect">
            <a:avLst>
              <a:gd name="adj" fmla="val 0"/>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07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Example 2: </a:t>
            </a:r>
            <a:r>
              <a:rPr lang="en-US" dirty="0">
                <a:solidFill>
                  <a:srgbClr val="C00000"/>
                </a:solidFill>
              </a:rPr>
              <a:t>Analysis (2)</a:t>
            </a:r>
          </a:p>
        </p:txBody>
      </p:sp>
      <p:pic>
        <p:nvPicPr>
          <p:cNvPr id="5" name="Picture 4"/>
          <p:cNvPicPr>
            <a:picLocks noChangeAspect="1"/>
          </p:cNvPicPr>
          <p:nvPr/>
        </p:nvPicPr>
        <p:blipFill>
          <a:blip r:embed="rId3"/>
          <a:stretch>
            <a:fillRect/>
          </a:stretch>
        </p:blipFill>
        <p:spPr>
          <a:xfrm>
            <a:off x="838200" y="1690688"/>
            <a:ext cx="6762474" cy="5078929"/>
          </a:xfrm>
          <a:prstGeom prst="rect">
            <a:avLst/>
          </a:prstGeom>
        </p:spPr>
      </p:pic>
      <p:sp>
        <p:nvSpPr>
          <p:cNvPr id="7" name="TextBox 6"/>
          <p:cNvSpPr txBox="1"/>
          <p:nvPr/>
        </p:nvSpPr>
        <p:spPr>
          <a:xfrm>
            <a:off x="4268539" y="2878079"/>
            <a:ext cx="3390672" cy="307777"/>
          </a:xfrm>
          <a:prstGeom prst="rect">
            <a:avLst/>
          </a:prstGeom>
          <a:solidFill>
            <a:srgbClr val="C00000"/>
          </a:solidFill>
        </p:spPr>
        <p:txBody>
          <a:bodyPr wrap="none" rtlCol="0">
            <a:spAutoFit/>
          </a:bodyPr>
          <a:lstStyle/>
          <a:p>
            <a:r>
              <a:rPr lang="en-US" sz="1400" dirty="0">
                <a:solidFill>
                  <a:schemeClr val="bg1"/>
                </a:solidFill>
              </a:rPr>
              <a:t>stored in location 202</a:t>
            </a:r>
            <a:r>
              <a:rPr lang="en-US" sz="1400">
                <a:solidFill>
                  <a:schemeClr val="bg1"/>
                </a:solidFill>
              </a:rPr>
              <a:t>, following the BSA</a:t>
            </a:r>
          </a:p>
        </p:txBody>
      </p:sp>
      <p:sp>
        <p:nvSpPr>
          <p:cNvPr id="8" name="TextBox 7"/>
          <p:cNvSpPr txBox="1"/>
          <p:nvPr/>
        </p:nvSpPr>
        <p:spPr>
          <a:xfrm>
            <a:off x="8741044" y="2624806"/>
            <a:ext cx="3605939" cy="2585323"/>
          </a:xfrm>
          <a:prstGeom prst="rect">
            <a:avLst/>
          </a:prstGeom>
          <a:noFill/>
        </p:spPr>
        <p:txBody>
          <a:bodyPr wrap="square" rtlCol="0">
            <a:spAutoFit/>
          </a:bodyPr>
          <a:lstStyle/>
          <a:p>
            <a:r>
              <a:rPr lang="en-US" b="1" dirty="0">
                <a:solidFill>
                  <a:srgbClr val="C00000"/>
                </a:solidFill>
              </a:rPr>
              <a:t>Calling BSA:</a:t>
            </a:r>
          </a:p>
          <a:p>
            <a:r>
              <a:rPr lang="en-US" b="1" dirty="0"/>
              <a:t>@ T4:</a:t>
            </a:r>
          </a:p>
          <a:p>
            <a:r>
              <a:rPr lang="en-US" dirty="0"/>
              <a:t>PC is already 202 so</a:t>
            </a:r>
          </a:p>
          <a:p>
            <a:r>
              <a:rPr lang="en-US" dirty="0"/>
              <a:t>M[207]=202</a:t>
            </a:r>
          </a:p>
          <a:p>
            <a:r>
              <a:rPr lang="en-US" dirty="0"/>
              <a:t>AR = 208</a:t>
            </a:r>
          </a:p>
          <a:p>
            <a:endParaRPr lang="en-US" dirty="0"/>
          </a:p>
          <a:p>
            <a:r>
              <a:rPr lang="en-US" b="1" dirty="0"/>
              <a:t>@T5: </a:t>
            </a:r>
          </a:p>
          <a:p>
            <a:r>
              <a:rPr lang="en-US" dirty="0"/>
              <a:t>PC = 208 so we can start executing the subroutine</a:t>
            </a:r>
          </a:p>
        </p:txBody>
      </p:sp>
      <p:pic>
        <p:nvPicPr>
          <p:cNvPr id="9" name="Picture 8"/>
          <p:cNvPicPr>
            <a:picLocks noChangeAspect="1"/>
          </p:cNvPicPr>
          <p:nvPr/>
        </p:nvPicPr>
        <p:blipFill>
          <a:blip r:embed="rId4"/>
          <a:stretch>
            <a:fillRect/>
          </a:stretch>
        </p:blipFill>
        <p:spPr>
          <a:xfrm>
            <a:off x="8043443" y="1532022"/>
            <a:ext cx="4148557" cy="1092784"/>
          </a:xfrm>
          <a:prstGeom prst="rect">
            <a:avLst/>
          </a:prstGeom>
        </p:spPr>
      </p:pic>
      <p:cxnSp>
        <p:nvCxnSpPr>
          <p:cNvPr id="11" name="Straight Arrow Connector 10"/>
          <p:cNvCxnSpPr/>
          <p:nvPr/>
        </p:nvCxnSpPr>
        <p:spPr>
          <a:xfrm flipH="1" flipV="1">
            <a:off x="7330698" y="4943959"/>
            <a:ext cx="2510727" cy="1239866"/>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9329979" y="6183824"/>
            <a:ext cx="2681183" cy="369332"/>
          </a:xfrm>
          <a:prstGeom prst="rect">
            <a:avLst/>
          </a:prstGeom>
          <a:noFill/>
        </p:spPr>
        <p:txBody>
          <a:bodyPr wrap="none" rtlCol="0">
            <a:spAutoFit/>
          </a:bodyPr>
          <a:lstStyle/>
          <a:p>
            <a:r>
              <a:rPr lang="en-US" dirty="0">
                <a:solidFill>
                  <a:srgbClr val="C00000"/>
                </a:solidFill>
              </a:rPr>
              <a:t>What’s happening here?</a:t>
            </a:r>
          </a:p>
        </p:txBody>
      </p:sp>
      <p:sp>
        <p:nvSpPr>
          <p:cNvPr id="10" name="Rounded Rectangle 9"/>
          <p:cNvSpPr/>
          <p:nvPr/>
        </p:nvSpPr>
        <p:spPr>
          <a:xfrm>
            <a:off x="3037668" y="4757980"/>
            <a:ext cx="4293030" cy="294467"/>
          </a:xfrm>
          <a:prstGeom prst="roundRect">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390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Example 2: </a:t>
            </a:r>
            <a:r>
              <a:rPr lang="en-US" dirty="0">
                <a:solidFill>
                  <a:srgbClr val="C00000"/>
                </a:solidFill>
              </a:rPr>
              <a:t>Analysis (3)</a:t>
            </a:r>
          </a:p>
        </p:txBody>
      </p:sp>
      <p:pic>
        <p:nvPicPr>
          <p:cNvPr id="5" name="Picture 4"/>
          <p:cNvPicPr>
            <a:picLocks noChangeAspect="1"/>
          </p:cNvPicPr>
          <p:nvPr/>
        </p:nvPicPr>
        <p:blipFill>
          <a:blip r:embed="rId3"/>
          <a:stretch>
            <a:fillRect/>
          </a:stretch>
        </p:blipFill>
        <p:spPr>
          <a:xfrm>
            <a:off x="838200" y="1690688"/>
            <a:ext cx="6762474" cy="5078929"/>
          </a:xfrm>
          <a:prstGeom prst="rect">
            <a:avLst/>
          </a:prstGeom>
        </p:spPr>
      </p:pic>
      <p:cxnSp>
        <p:nvCxnSpPr>
          <p:cNvPr id="11" name="Straight Arrow Connector 10"/>
          <p:cNvCxnSpPr/>
          <p:nvPr/>
        </p:nvCxnSpPr>
        <p:spPr>
          <a:xfrm flipH="1" flipV="1">
            <a:off x="7659211" y="5045404"/>
            <a:ext cx="2182214" cy="526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9205993" y="5045404"/>
            <a:ext cx="2847896" cy="369332"/>
          </a:xfrm>
          <a:prstGeom prst="rect">
            <a:avLst/>
          </a:prstGeom>
          <a:noFill/>
        </p:spPr>
        <p:txBody>
          <a:bodyPr wrap="none" rtlCol="0">
            <a:spAutoFit/>
          </a:bodyPr>
          <a:lstStyle/>
          <a:p>
            <a:r>
              <a:rPr lang="en-US" dirty="0"/>
              <a:t>How’s the OR performed?</a:t>
            </a:r>
          </a:p>
        </p:txBody>
      </p:sp>
      <p:sp>
        <p:nvSpPr>
          <p:cNvPr id="10" name="Rounded Rectangle 9"/>
          <p:cNvSpPr/>
          <p:nvPr/>
        </p:nvSpPr>
        <p:spPr>
          <a:xfrm>
            <a:off x="3037692" y="4309940"/>
            <a:ext cx="4562982" cy="1470928"/>
          </a:xfrm>
          <a:prstGeom prst="roundRect">
            <a:avLst>
              <a:gd name="adj" fmla="val 4023"/>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823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Subroutine Example 2: </a:t>
            </a:r>
            <a:r>
              <a:rPr lang="en-US" dirty="0">
                <a:solidFill>
                  <a:srgbClr val="C00000"/>
                </a:solidFill>
              </a:rPr>
              <a:t>Analysis (4)</a:t>
            </a:r>
          </a:p>
        </p:txBody>
      </p:sp>
      <p:pic>
        <p:nvPicPr>
          <p:cNvPr id="5" name="Picture 4"/>
          <p:cNvPicPr>
            <a:picLocks noChangeAspect="1"/>
          </p:cNvPicPr>
          <p:nvPr/>
        </p:nvPicPr>
        <p:blipFill>
          <a:blip r:embed="rId3"/>
          <a:stretch>
            <a:fillRect/>
          </a:stretch>
        </p:blipFill>
        <p:spPr>
          <a:xfrm>
            <a:off x="838200" y="1690688"/>
            <a:ext cx="6762474" cy="5078929"/>
          </a:xfrm>
          <a:prstGeom prst="rect">
            <a:avLst/>
          </a:prstGeom>
        </p:spPr>
      </p:pic>
      <p:cxnSp>
        <p:nvCxnSpPr>
          <p:cNvPr id="11" name="Straight Arrow Connector 10"/>
          <p:cNvCxnSpPr>
            <a:endCxn id="4" idx="3"/>
          </p:cNvCxnSpPr>
          <p:nvPr/>
        </p:nvCxnSpPr>
        <p:spPr>
          <a:xfrm flipH="1" flipV="1">
            <a:off x="7237708" y="5982345"/>
            <a:ext cx="2603718" cy="20148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9344186" y="5797679"/>
            <a:ext cx="2681183" cy="369332"/>
          </a:xfrm>
          <a:prstGeom prst="rect">
            <a:avLst/>
          </a:prstGeom>
          <a:noFill/>
        </p:spPr>
        <p:txBody>
          <a:bodyPr wrap="none" rtlCol="0">
            <a:spAutoFit/>
          </a:bodyPr>
          <a:lstStyle/>
          <a:p>
            <a:r>
              <a:rPr lang="en-US"/>
              <a:t>What’s happening here?</a:t>
            </a:r>
          </a:p>
        </p:txBody>
      </p:sp>
      <p:sp>
        <p:nvSpPr>
          <p:cNvPr id="4" name="Rounded Rectangle 3"/>
          <p:cNvSpPr/>
          <p:nvPr/>
        </p:nvSpPr>
        <p:spPr>
          <a:xfrm>
            <a:off x="2944678" y="5734372"/>
            <a:ext cx="4293030" cy="495946"/>
          </a:xfrm>
          <a:prstGeom prst="roundRect">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3775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Home exercise</a:t>
            </a:r>
          </a:p>
        </p:txBody>
      </p:sp>
      <p:sp>
        <p:nvSpPr>
          <p:cNvPr id="3" name="Content Placeholder 2"/>
          <p:cNvSpPr>
            <a:spLocks noGrp="1"/>
          </p:cNvSpPr>
          <p:nvPr>
            <p:ph idx="1"/>
          </p:nvPr>
        </p:nvSpPr>
        <p:spPr>
          <a:xfrm>
            <a:off x="838200" y="1825625"/>
            <a:ext cx="4353732" cy="4351338"/>
          </a:xfrm>
        </p:spPr>
        <p:txBody>
          <a:bodyPr/>
          <a:lstStyle/>
          <a:p>
            <a:r>
              <a:rPr lang="en-US" dirty="0"/>
              <a:t>What’s MVE subroutine trying to do?</a:t>
            </a:r>
          </a:p>
        </p:txBody>
      </p:sp>
      <p:pic>
        <p:nvPicPr>
          <p:cNvPr id="4" name="Picture 3"/>
          <p:cNvPicPr>
            <a:picLocks noChangeAspect="1"/>
          </p:cNvPicPr>
          <p:nvPr/>
        </p:nvPicPr>
        <p:blipFill>
          <a:blip r:embed="rId2"/>
          <a:stretch>
            <a:fillRect/>
          </a:stretch>
        </p:blipFill>
        <p:spPr>
          <a:xfrm>
            <a:off x="5563891" y="365125"/>
            <a:ext cx="6009899" cy="6313283"/>
          </a:xfrm>
          <a:prstGeom prst="rect">
            <a:avLst/>
          </a:prstGeom>
        </p:spPr>
      </p:pic>
    </p:spTree>
    <p:extLst>
      <p:ext uri="{BB962C8B-B14F-4D97-AF65-F5344CB8AC3E}">
        <p14:creationId xmlns:p14="http://schemas.microsoft.com/office/powerpoint/2010/main" val="246818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7250"/>
            <a:ext cx="10515600" cy="1325563"/>
          </a:xfrm>
        </p:spPr>
        <p:txBody>
          <a:bodyPr/>
          <a:lstStyle/>
          <a:p>
            <a:r>
              <a:rPr lang="en-US" dirty="0">
                <a:solidFill>
                  <a:srgbClr val="C00000"/>
                </a:solidFill>
              </a:rPr>
              <a:t>Part 2</a:t>
            </a:r>
          </a:p>
        </p:txBody>
      </p:sp>
      <p:sp>
        <p:nvSpPr>
          <p:cNvPr id="3" name="Content Placeholder 2"/>
          <p:cNvSpPr>
            <a:spLocks noGrp="1"/>
          </p:cNvSpPr>
          <p:nvPr>
            <p:ph idx="1"/>
          </p:nvPr>
        </p:nvSpPr>
        <p:spPr>
          <a:xfrm>
            <a:off x="838200" y="3657599"/>
            <a:ext cx="10515600" cy="180090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t>Input output programming</a:t>
            </a:r>
          </a:p>
        </p:txBody>
      </p:sp>
    </p:spTree>
    <p:extLst>
      <p:ext uri="{BB962C8B-B14F-4D97-AF65-F5344CB8AC3E}">
        <p14:creationId xmlns:p14="http://schemas.microsoft.com/office/powerpoint/2010/main" val="1250513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2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2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 instructions reminder</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690688"/>
            <a:ext cx="9404936" cy="3602189"/>
          </a:xfrm>
          <a:prstGeom prst="rect">
            <a:avLst/>
          </a:prstGeom>
        </p:spPr>
      </p:pic>
    </p:spTree>
    <p:extLst>
      <p:ext uri="{BB962C8B-B14F-4D97-AF65-F5344CB8AC3E}">
        <p14:creationId xmlns:p14="http://schemas.microsoft.com/office/powerpoint/2010/main" val="1666598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Remember these programs for inputting and outputting a character?</a:t>
            </a:r>
          </a:p>
        </p:txBody>
      </p:sp>
      <p:pic>
        <p:nvPicPr>
          <p:cNvPr id="4" name="Picture 3"/>
          <p:cNvPicPr>
            <a:picLocks noChangeAspect="1"/>
          </p:cNvPicPr>
          <p:nvPr/>
        </p:nvPicPr>
        <p:blipFill rotWithShape="1">
          <a:blip r:embed="rId2"/>
          <a:srcRect t="16119"/>
          <a:stretch/>
        </p:blipFill>
        <p:spPr>
          <a:xfrm>
            <a:off x="348812" y="3242267"/>
            <a:ext cx="5109059" cy="1546980"/>
          </a:xfrm>
          <a:prstGeom prst="rect">
            <a:avLst/>
          </a:prstGeom>
          <a:ln>
            <a:noFill/>
          </a:ln>
          <a:effectLst>
            <a:outerShdw blurRad="292100" dist="139700" dir="2700000" algn="tl" rotWithShape="0">
              <a:srgbClr val="333333">
                <a:alpha val="65000"/>
              </a:srgbClr>
            </a:outerShdw>
          </a:effectLst>
        </p:spPr>
      </p:pic>
      <p:pic>
        <p:nvPicPr>
          <p:cNvPr id="5" name="Picture 4"/>
          <p:cNvPicPr>
            <a:picLocks noChangeAspect="1"/>
          </p:cNvPicPr>
          <p:nvPr/>
        </p:nvPicPr>
        <p:blipFill>
          <a:blip r:embed="rId3"/>
          <a:stretch>
            <a:fillRect/>
          </a:stretch>
        </p:blipFill>
        <p:spPr>
          <a:xfrm>
            <a:off x="6662765" y="3317257"/>
            <a:ext cx="5003800" cy="1397000"/>
          </a:xfrm>
          <a:prstGeom prst="rect">
            <a:avLst/>
          </a:prstGeom>
          <a:ln>
            <a:noFill/>
          </a:ln>
          <a:effectLst>
            <a:outerShdw blurRad="292100" dist="139700" dir="2700000" algn="tl" rotWithShape="0">
              <a:srgbClr val="333333">
                <a:alpha val="65000"/>
              </a:srgbClr>
            </a:outerShdw>
          </a:effectLst>
        </p:spPr>
      </p:pic>
      <p:sp>
        <p:nvSpPr>
          <p:cNvPr id="6" name="TextBox 5"/>
          <p:cNvSpPr txBox="1"/>
          <p:nvPr/>
        </p:nvSpPr>
        <p:spPr>
          <a:xfrm>
            <a:off x="2205715" y="2356128"/>
            <a:ext cx="697627" cy="369332"/>
          </a:xfrm>
          <a:prstGeom prst="rect">
            <a:avLst/>
          </a:prstGeom>
          <a:solidFill>
            <a:schemeClr val="accent6">
              <a:lumMod val="75000"/>
            </a:schemeClr>
          </a:solidFill>
        </p:spPr>
        <p:txBody>
          <a:bodyPr wrap="none" rtlCol="0">
            <a:spAutoFit/>
          </a:bodyPr>
          <a:lstStyle/>
          <a:p>
            <a:r>
              <a:rPr lang="en-US">
                <a:solidFill>
                  <a:schemeClr val="bg1"/>
                </a:solidFill>
              </a:rPr>
              <a:t>Input</a:t>
            </a:r>
          </a:p>
        </p:txBody>
      </p:sp>
      <p:sp>
        <p:nvSpPr>
          <p:cNvPr id="7" name="TextBox 6"/>
          <p:cNvSpPr txBox="1"/>
          <p:nvPr/>
        </p:nvSpPr>
        <p:spPr>
          <a:xfrm>
            <a:off x="8815851" y="2368876"/>
            <a:ext cx="877163" cy="369332"/>
          </a:xfrm>
          <a:prstGeom prst="rect">
            <a:avLst/>
          </a:prstGeom>
          <a:solidFill>
            <a:schemeClr val="accent2">
              <a:lumMod val="75000"/>
            </a:schemeClr>
          </a:solidFill>
        </p:spPr>
        <p:txBody>
          <a:bodyPr wrap="none" rtlCol="0">
            <a:spAutoFit/>
          </a:bodyPr>
          <a:lstStyle/>
          <a:p>
            <a:r>
              <a:rPr lang="en-US">
                <a:solidFill>
                  <a:schemeClr val="bg1"/>
                </a:solidFill>
              </a:rPr>
              <a:t>Output</a:t>
            </a:r>
          </a:p>
        </p:txBody>
      </p:sp>
      <p:sp>
        <p:nvSpPr>
          <p:cNvPr id="8" name="TextBox 7"/>
          <p:cNvSpPr txBox="1"/>
          <p:nvPr/>
        </p:nvSpPr>
        <p:spPr>
          <a:xfrm>
            <a:off x="1397726" y="5306054"/>
            <a:ext cx="3448594" cy="646331"/>
          </a:xfrm>
          <a:prstGeom prst="rect">
            <a:avLst/>
          </a:prstGeom>
          <a:noFill/>
        </p:spPr>
        <p:txBody>
          <a:bodyPr wrap="square" rtlCol="0">
            <a:spAutoFit/>
          </a:bodyPr>
          <a:lstStyle/>
          <a:p>
            <a:pPr algn="ctr"/>
            <a:r>
              <a:rPr lang="en-US" dirty="0"/>
              <a:t>Keeps checking </a:t>
            </a:r>
            <a:r>
              <a:rPr lang="en-US"/>
              <a:t>the input flag FGI until it becomes 1</a:t>
            </a:r>
          </a:p>
        </p:txBody>
      </p:sp>
      <p:sp>
        <p:nvSpPr>
          <p:cNvPr id="9" name="TextBox 8"/>
          <p:cNvSpPr txBox="1"/>
          <p:nvPr/>
        </p:nvSpPr>
        <p:spPr>
          <a:xfrm>
            <a:off x="7323909" y="5306054"/>
            <a:ext cx="3448594" cy="646331"/>
          </a:xfrm>
          <a:prstGeom prst="rect">
            <a:avLst/>
          </a:prstGeom>
          <a:noFill/>
        </p:spPr>
        <p:txBody>
          <a:bodyPr wrap="square" rtlCol="0">
            <a:spAutoFit/>
          </a:bodyPr>
          <a:lstStyle/>
          <a:p>
            <a:pPr algn="ctr"/>
            <a:r>
              <a:rPr lang="en-US" dirty="0"/>
              <a:t>Keeps checking the output flag FGO until it becomes 1</a:t>
            </a:r>
          </a:p>
        </p:txBody>
      </p:sp>
    </p:spTree>
    <p:extLst>
      <p:ext uri="{BB962C8B-B14F-4D97-AF65-F5344CB8AC3E}">
        <p14:creationId xmlns:p14="http://schemas.microsoft.com/office/powerpoint/2010/main" val="640534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 manipulation</a:t>
            </a:r>
          </a:p>
        </p:txBody>
      </p:sp>
      <p:sp>
        <p:nvSpPr>
          <p:cNvPr id="3" name="Content Placeholder 2"/>
          <p:cNvSpPr>
            <a:spLocks noGrp="1"/>
          </p:cNvSpPr>
          <p:nvPr>
            <p:ph idx="1"/>
          </p:nvPr>
        </p:nvSpPr>
        <p:spPr/>
        <p:txBody>
          <a:bodyPr/>
          <a:lstStyle/>
          <a:p>
            <a:r>
              <a:rPr lang="en-US" dirty="0"/>
              <a:t>A character occupies only 8 bits, this leaves 8 bits in the memory word (which is 16 bits) unused.</a:t>
            </a:r>
          </a:p>
          <a:p>
            <a:endParaRPr lang="en-US" dirty="0"/>
          </a:p>
          <a:p>
            <a:r>
              <a:rPr lang="en-US" dirty="0"/>
              <a:t>We can pack two characters in one memory word then!</a:t>
            </a:r>
          </a:p>
          <a:p>
            <a:endParaRPr lang="en-US" dirty="0"/>
          </a:p>
          <a:p>
            <a:r>
              <a:rPr lang="en-US" dirty="0"/>
              <a:t>Let’s create a subroutine that packs two characters in the accumulator. </a:t>
            </a:r>
          </a:p>
          <a:p>
            <a:pPr lvl="1"/>
            <a:r>
              <a:rPr lang="en-US" dirty="0">
                <a:sym typeface="Wingdings"/>
              </a:rPr>
              <a:t></a:t>
            </a:r>
            <a:r>
              <a:rPr lang="en-US" dirty="0"/>
              <a:t>it’s then easy to store the AC into one word in memory using STA</a:t>
            </a:r>
          </a:p>
        </p:txBody>
      </p:sp>
    </p:spTree>
    <p:extLst>
      <p:ext uri="{BB962C8B-B14F-4D97-AF65-F5344CB8AC3E}">
        <p14:creationId xmlns:p14="http://schemas.microsoft.com/office/powerpoint/2010/main" val="1548844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Before we continue</a:t>
            </a:r>
            <a:r>
              <a:rPr lang="mr-IN" dirty="0"/>
              <a:t>…</a:t>
            </a:r>
            <a:endParaRPr lang="en-US" dirty="0"/>
          </a:p>
        </p:txBody>
      </p:sp>
      <p:sp>
        <p:nvSpPr>
          <p:cNvPr id="3" name="Content Placeholder 2"/>
          <p:cNvSpPr>
            <a:spLocks noGrp="1"/>
          </p:cNvSpPr>
          <p:nvPr>
            <p:ph idx="1"/>
          </p:nvPr>
        </p:nvSpPr>
        <p:spPr>
          <a:xfrm>
            <a:off x="838199" y="2506662"/>
            <a:ext cx="10853057" cy="4351338"/>
          </a:xfrm>
        </p:spPr>
        <p:txBody>
          <a:bodyPr/>
          <a:lstStyle/>
          <a:p>
            <a:r>
              <a:rPr lang="en-US" dirty="0"/>
              <a:t>Assume we have written our </a:t>
            </a:r>
            <a:r>
              <a:rPr lang="en-US" dirty="0">
                <a:solidFill>
                  <a:srgbClr val="0070C0"/>
                </a:solidFill>
                <a:latin typeface="Courier" charset="0"/>
                <a:ea typeface="Courier" charset="0"/>
                <a:cs typeface="Courier" charset="0"/>
              </a:rPr>
              <a:t>SH4</a:t>
            </a:r>
            <a:r>
              <a:rPr lang="en-US" dirty="0">
                <a:solidFill>
                  <a:srgbClr val="0070C0"/>
                </a:solidFill>
              </a:rPr>
              <a:t> </a:t>
            </a:r>
            <a:r>
              <a:rPr lang="en-US" dirty="0"/>
              <a:t>subroutine “shift left AC 4 times” and it’s available for us to call and use. </a:t>
            </a:r>
          </a:p>
          <a:p>
            <a:r>
              <a:rPr lang="en-US" dirty="0"/>
              <a:t>(check Slide 6)</a:t>
            </a:r>
          </a:p>
        </p:txBody>
      </p:sp>
    </p:spTree>
    <p:extLst>
      <p:ext uri="{BB962C8B-B14F-4D97-AF65-F5344CB8AC3E}">
        <p14:creationId xmlns:p14="http://schemas.microsoft.com/office/powerpoint/2010/main" val="1305070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for subroutine </a:t>
            </a:r>
            <a:r>
              <a:rPr lang="en-US" dirty="0">
                <a:solidFill>
                  <a:schemeClr val="accent2">
                    <a:lumMod val="75000"/>
                  </a:schemeClr>
                </a:solidFill>
                <a:latin typeface="Courier" charset="0"/>
                <a:ea typeface="Courier" charset="0"/>
                <a:cs typeface="Courier" charset="0"/>
              </a:rPr>
              <a:t>IN2</a:t>
            </a:r>
          </a:p>
        </p:txBody>
      </p:sp>
      <p:sp>
        <p:nvSpPr>
          <p:cNvPr id="3" name="Content Placeholder 2"/>
          <p:cNvSpPr>
            <a:spLocks noGrp="1"/>
          </p:cNvSpPr>
          <p:nvPr>
            <p:ph idx="1"/>
          </p:nvPr>
        </p:nvSpPr>
        <p:spPr>
          <a:xfrm>
            <a:off x="1015781" y="1767633"/>
            <a:ext cx="10762931" cy="594019"/>
          </a:xfrm>
        </p:spPr>
        <p:txBody>
          <a:bodyPr>
            <a:normAutofit/>
          </a:bodyPr>
          <a:lstStyle/>
          <a:p>
            <a:pPr marL="0" indent="0">
              <a:buNone/>
            </a:pPr>
            <a:r>
              <a:rPr lang="en-US" b="1" dirty="0">
                <a:solidFill>
                  <a:srgbClr val="0070C0"/>
                </a:solidFill>
              </a:rPr>
              <a:t>Goal: </a:t>
            </a:r>
            <a:r>
              <a:rPr lang="en-US" dirty="0">
                <a:solidFill>
                  <a:srgbClr val="0070C0"/>
                </a:solidFill>
              </a:rPr>
              <a:t>Pack two characters next to each other into the accumulator.</a:t>
            </a:r>
          </a:p>
        </p:txBody>
      </p:sp>
      <p:pic>
        <p:nvPicPr>
          <p:cNvPr id="4" name="Picture 3"/>
          <p:cNvPicPr>
            <a:picLocks noChangeAspect="1"/>
          </p:cNvPicPr>
          <p:nvPr/>
        </p:nvPicPr>
        <p:blipFill>
          <a:blip r:embed="rId2"/>
          <a:stretch>
            <a:fillRect/>
          </a:stretch>
        </p:blipFill>
        <p:spPr>
          <a:xfrm>
            <a:off x="1001486" y="2585244"/>
            <a:ext cx="6016126" cy="3726656"/>
          </a:xfrm>
          <a:prstGeom prst="rect">
            <a:avLst/>
          </a:prstGeom>
        </p:spPr>
      </p:pic>
      <p:sp>
        <p:nvSpPr>
          <p:cNvPr id="5" name="Rectangle 4"/>
          <p:cNvSpPr/>
          <p:nvPr/>
        </p:nvSpPr>
        <p:spPr>
          <a:xfrm>
            <a:off x="7017612" y="3628890"/>
            <a:ext cx="3138759" cy="20900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609512" y="3628890"/>
            <a:ext cx="1554480" cy="20900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character 1</a:t>
            </a:r>
          </a:p>
        </p:txBody>
      </p:sp>
      <p:sp>
        <p:nvSpPr>
          <p:cNvPr id="8" name="Rectangle 7"/>
          <p:cNvSpPr/>
          <p:nvPr/>
        </p:nvSpPr>
        <p:spPr>
          <a:xfrm>
            <a:off x="7017612" y="4273528"/>
            <a:ext cx="3138759" cy="20900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851862" y="4273528"/>
            <a:ext cx="1554480" cy="20900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character 1</a:t>
            </a:r>
          </a:p>
        </p:txBody>
      </p:sp>
      <p:sp>
        <p:nvSpPr>
          <p:cNvPr id="11" name="Rectangle 10"/>
          <p:cNvSpPr/>
          <p:nvPr/>
        </p:nvSpPr>
        <p:spPr>
          <a:xfrm>
            <a:off x="7017612" y="4540526"/>
            <a:ext cx="3138759" cy="20900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019448" y="4540526"/>
            <a:ext cx="1554480" cy="20900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character 1</a:t>
            </a:r>
          </a:p>
        </p:txBody>
      </p:sp>
      <p:sp>
        <p:nvSpPr>
          <p:cNvPr id="14" name="Rectangle 13"/>
          <p:cNvSpPr/>
          <p:nvPr/>
        </p:nvSpPr>
        <p:spPr>
          <a:xfrm>
            <a:off x="7017611" y="2707348"/>
            <a:ext cx="3138759" cy="20900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10249817" y="2627185"/>
            <a:ext cx="1261884" cy="369332"/>
          </a:xfrm>
          <a:prstGeom prst="rect">
            <a:avLst/>
          </a:prstGeom>
          <a:noFill/>
        </p:spPr>
        <p:txBody>
          <a:bodyPr wrap="none" rtlCol="0">
            <a:spAutoFit/>
          </a:bodyPr>
          <a:lstStyle/>
          <a:p>
            <a:r>
              <a:rPr lang="en-US" dirty="0"/>
              <a:t>AC initially</a:t>
            </a:r>
          </a:p>
        </p:txBody>
      </p:sp>
      <p:sp>
        <p:nvSpPr>
          <p:cNvPr id="16" name="Rectangle 15"/>
          <p:cNvSpPr/>
          <p:nvPr/>
        </p:nvSpPr>
        <p:spPr>
          <a:xfrm>
            <a:off x="7017611" y="5404648"/>
            <a:ext cx="3138759" cy="20900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7019447" y="5404648"/>
            <a:ext cx="1554480" cy="20900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character 1</a:t>
            </a:r>
          </a:p>
        </p:txBody>
      </p:sp>
      <p:sp>
        <p:nvSpPr>
          <p:cNvPr id="18" name="Rectangle 17"/>
          <p:cNvSpPr/>
          <p:nvPr/>
        </p:nvSpPr>
        <p:spPr>
          <a:xfrm>
            <a:off x="8593253" y="5404573"/>
            <a:ext cx="1554480" cy="209006"/>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character 2</a:t>
            </a:r>
          </a:p>
        </p:txBody>
      </p:sp>
      <p:pic>
        <p:nvPicPr>
          <p:cNvPr id="19" name="Picture 18"/>
          <p:cNvPicPr>
            <a:picLocks noChangeAspect="1"/>
          </p:cNvPicPr>
          <p:nvPr/>
        </p:nvPicPr>
        <p:blipFill>
          <a:blip r:embed="rId3"/>
          <a:stretch>
            <a:fillRect/>
          </a:stretch>
        </p:blipFill>
        <p:spPr>
          <a:xfrm>
            <a:off x="344817" y="1690688"/>
            <a:ext cx="670964" cy="670964"/>
          </a:xfrm>
          <a:prstGeom prst="rect">
            <a:avLst/>
          </a:prstGeom>
        </p:spPr>
      </p:pic>
      <p:sp>
        <p:nvSpPr>
          <p:cNvPr id="20" name="Rounded Rectangle 19"/>
          <p:cNvSpPr/>
          <p:nvPr/>
        </p:nvSpPr>
        <p:spPr>
          <a:xfrm>
            <a:off x="1015781" y="2538071"/>
            <a:ext cx="2769626" cy="3773830"/>
          </a:xfrm>
          <a:prstGeom prst="roundRect">
            <a:avLst>
              <a:gd name="adj" fmla="val 421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40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dissolve">
                                      <p:cBhvr>
                                        <p:cTn id="23" dur="500"/>
                                        <p:tgtEl>
                                          <p:spTgt spid="11"/>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dissolve">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dissolve">
                                      <p:cBhvr>
                                        <p:cTn id="31" dur="500"/>
                                        <p:tgtEl>
                                          <p:spTgt spid="1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dissolve">
                                      <p:cBhvr>
                                        <p:cTn id="34" dur="500"/>
                                        <p:tgtEl>
                                          <p:spTgt spid="17"/>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dissolve">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6" grpId="0" animBg="1"/>
      <p:bldP spid="17" grpId="0" animBg="1"/>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9875" y="355600"/>
            <a:ext cx="10515600" cy="1325563"/>
          </a:xfrm>
        </p:spPr>
        <p:txBody>
          <a:bodyPr/>
          <a:lstStyle/>
          <a:p>
            <a:r>
              <a:rPr lang="en-US" dirty="0"/>
              <a:t>   What does this code do?</a:t>
            </a:r>
          </a:p>
        </p:txBody>
      </p:sp>
      <p:sp>
        <p:nvSpPr>
          <p:cNvPr id="3" name="Content Placeholder 2"/>
          <p:cNvSpPr>
            <a:spLocks noGrp="1"/>
          </p:cNvSpPr>
          <p:nvPr>
            <p:ph idx="1"/>
          </p:nvPr>
        </p:nvSpPr>
        <p:spPr>
          <a:xfrm>
            <a:off x="1469875" y="1416368"/>
            <a:ext cx="10515600" cy="4351338"/>
          </a:xfrm>
        </p:spPr>
        <p:txBody>
          <a:bodyPr/>
          <a:lstStyle/>
          <a:p>
            <a:r>
              <a:rPr lang="en-US" b="1" dirty="0">
                <a:solidFill>
                  <a:srgbClr val="0070C0"/>
                </a:solidFill>
              </a:rPr>
              <a:t>Remember now you have a subroutine called IN2 that you can use.</a:t>
            </a:r>
          </a:p>
        </p:txBody>
      </p:sp>
      <p:pic>
        <p:nvPicPr>
          <p:cNvPr id="4" name="Picture 3"/>
          <p:cNvPicPr>
            <a:picLocks noChangeAspect="1"/>
          </p:cNvPicPr>
          <p:nvPr/>
        </p:nvPicPr>
        <p:blipFill>
          <a:blip r:embed="rId3"/>
          <a:stretch>
            <a:fillRect/>
          </a:stretch>
        </p:blipFill>
        <p:spPr>
          <a:xfrm>
            <a:off x="838200" y="2573633"/>
            <a:ext cx="10071331" cy="3738267"/>
          </a:xfrm>
          <a:prstGeom prst="rect">
            <a:avLst/>
          </a:prstGeom>
          <a:ln>
            <a:solidFill>
              <a:schemeClr val="tx1"/>
            </a:solidFill>
          </a:ln>
        </p:spPr>
      </p:pic>
      <p:sp>
        <p:nvSpPr>
          <p:cNvPr id="5" name="TextBox 4"/>
          <p:cNvSpPr txBox="1"/>
          <p:nvPr/>
        </p:nvSpPr>
        <p:spPr>
          <a:xfrm>
            <a:off x="0" y="787550"/>
            <a:ext cx="1622560" cy="461665"/>
          </a:xfrm>
          <a:prstGeom prst="rect">
            <a:avLst/>
          </a:prstGeom>
          <a:solidFill>
            <a:srgbClr val="C00000"/>
          </a:solidFill>
        </p:spPr>
        <p:txBody>
          <a:bodyPr wrap="none" rtlCol="0">
            <a:spAutoFit/>
          </a:bodyPr>
          <a:lstStyle/>
          <a:p>
            <a:r>
              <a:rPr lang="en-US" sz="2400" dirty="0">
                <a:solidFill>
                  <a:schemeClr val="bg1"/>
                </a:solidFill>
              </a:rPr>
              <a:t>Exercise 1</a:t>
            </a:r>
          </a:p>
        </p:txBody>
      </p:sp>
    </p:spTree>
    <p:extLst>
      <p:ext uri="{BB962C8B-B14F-4D97-AF65-F5344CB8AC3E}">
        <p14:creationId xmlns:p14="http://schemas.microsoft.com/office/powerpoint/2010/main" val="2124029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782044" y="1912796"/>
            <a:ext cx="7263652" cy="3443382"/>
          </a:xfrm>
          <a:prstGeom prst="rect">
            <a:avLst/>
          </a:prstGeom>
        </p:spPr>
      </p:pic>
      <p:sp>
        <p:nvSpPr>
          <p:cNvPr id="5" name="TextBox 4"/>
          <p:cNvSpPr txBox="1"/>
          <p:nvPr/>
        </p:nvSpPr>
        <p:spPr>
          <a:xfrm>
            <a:off x="711276" y="1493914"/>
            <a:ext cx="2726868" cy="3785652"/>
          </a:xfrm>
          <a:prstGeom prst="rect">
            <a:avLst/>
          </a:prstGeom>
          <a:noFill/>
        </p:spPr>
        <p:txBody>
          <a:bodyPr wrap="square" rtlCol="0">
            <a:spAutoFit/>
          </a:bodyPr>
          <a:lstStyle/>
          <a:p>
            <a:r>
              <a:rPr lang="en-US" sz="2400" b="1" dirty="0"/>
              <a:t>We wish to implement this</a:t>
            </a:r>
          </a:p>
          <a:p>
            <a:endParaRPr lang="en-US" sz="2400" dirty="0"/>
          </a:p>
          <a:p>
            <a:r>
              <a:rPr lang="en-US" sz="2400" dirty="0"/>
              <a:t> </a:t>
            </a:r>
            <a:r>
              <a:rPr lang="en-US" sz="2400" dirty="0">
                <a:latin typeface="Courier" charset="0"/>
                <a:ea typeface="Courier" charset="0"/>
                <a:cs typeface="Courier" charset="0"/>
              </a:rPr>
              <a:t>if (a==b) </a:t>
            </a:r>
          </a:p>
          <a:p>
            <a:endParaRPr lang="en-US" sz="2400" dirty="0">
              <a:latin typeface="Courier" charset="0"/>
              <a:ea typeface="Courier" charset="0"/>
              <a:cs typeface="Courier" charset="0"/>
            </a:endParaRPr>
          </a:p>
          <a:p>
            <a:r>
              <a:rPr lang="en-US" sz="2400" dirty="0">
                <a:latin typeface="Courier" charset="0"/>
                <a:ea typeface="Courier" charset="0"/>
                <a:cs typeface="Courier" charset="0"/>
              </a:rPr>
              <a:t>  {//</a:t>
            </a:r>
            <a:r>
              <a:rPr lang="en-US" sz="2400" i="1" dirty="0">
                <a:latin typeface="Courier" charset="0"/>
                <a:ea typeface="Courier" charset="0"/>
                <a:cs typeface="Courier" charset="0"/>
              </a:rPr>
              <a:t>equal</a:t>
            </a:r>
            <a:r>
              <a:rPr lang="en-US" sz="2400" dirty="0">
                <a:latin typeface="Courier" charset="0"/>
                <a:ea typeface="Courier" charset="0"/>
                <a:cs typeface="Courier" charset="0"/>
              </a:rPr>
              <a:t>} </a:t>
            </a:r>
          </a:p>
          <a:p>
            <a:endParaRPr lang="en-US" sz="2400" dirty="0">
              <a:latin typeface="Courier" charset="0"/>
              <a:ea typeface="Courier" charset="0"/>
              <a:cs typeface="Courier" charset="0"/>
            </a:endParaRPr>
          </a:p>
          <a:p>
            <a:r>
              <a:rPr lang="en-US" sz="2400" dirty="0">
                <a:latin typeface="Courier" charset="0"/>
                <a:ea typeface="Courier" charset="0"/>
                <a:cs typeface="Courier" charset="0"/>
              </a:rPr>
              <a:t>else </a:t>
            </a:r>
          </a:p>
          <a:p>
            <a:endParaRPr lang="en-US" sz="2400" dirty="0">
              <a:latin typeface="Courier" charset="0"/>
              <a:ea typeface="Courier" charset="0"/>
              <a:cs typeface="Courier" charset="0"/>
            </a:endParaRPr>
          </a:p>
          <a:p>
            <a:r>
              <a:rPr lang="en-US" sz="2400" dirty="0">
                <a:latin typeface="Courier" charset="0"/>
                <a:ea typeface="Courier" charset="0"/>
                <a:cs typeface="Courier" charset="0"/>
              </a:rPr>
              <a:t>  {//</a:t>
            </a:r>
            <a:r>
              <a:rPr lang="en-US" sz="2400" i="1" dirty="0">
                <a:latin typeface="Courier" charset="0"/>
                <a:ea typeface="Courier" charset="0"/>
                <a:cs typeface="Courier" charset="0"/>
              </a:rPr>
              <a:t>unequal</a:t>
            </a:r>
            <a:r>
              <a:rPr lang="en-US" sz="2400" dirty="0">
                <a:latin typeface="Courier" charset="0"/>
                <a:ea typeface="Courier" charset="0"/>
                <a:cs typeface="Courier" charset="0"/>
              </a:rPr>
              <a:t>}</a:t>
            </a:r>
          </a:p>
        </p:txBody>
      </p:sp>
      <p:sp>
        <p:nvSpPr>
          <p:cNvPr id="6" name="Rectangle 5"/>
          <p:cNvSpPr/>
          <p:nvPr/>
        </p:nvSpPr>
        <p:spPr>
          <a:xfrm>
            <a:off x="6258042" y="3485156"/>
            <a:ext cx="4490962" cy="2472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a:solidFill>
                  <a:srgbClr val="C00000"/>
                </a:solidFill>
              </a:rPr>
              <a:t>Fill in the missing instruction here</a:t>
            </a:r>
          </a:p>
        </p:txBody>
      </p:sp>
      <p:sp>
        <p:nvSpPr>
          <p:cNvPr id="7" name="TextBox 6"/>
          <p:cNvSpPr txBox="1"/>
          <p:nvPr/>
        </p:nvSpPr>
        <p:spPr>
          <a:xfrm>
            <a:off x="1472116" y="5963915"/>
            <a:ext cx="9571851" cy="369332"/>
          </a:xfrm>
          <a:prstGeom prst="rect">
            <a:avLst/>
          </a:prstGeom>
          <a:noFill/>
        </p:spPr>
        <p:txBody>
          <a:bodyPr wrap="none" rtlCol="0">
            <a:spAutoFit/>
          </a:bodyPr>
          <a:lstStyle/>
          <a:p>
            <a:r>
              <a:rPr lang="en-US" dirty="0"/>
              <a:t>This program can serve as a counter adjustment for the table lookup program done before.</a:t>
            </a:r>
          </a:p>
        </p:txBody>
      </p:sp>
      <p:sp>
        <p:nvSpPr>
          <p:cNvPr id="8" name="Title 1"/>
          <p:cNvSpPr>
            <a:spLocks noGrp="1"/>
          </p:cNvSpPr>
          <p:nvPr>
            <p:ph type="title"/>
          </p:nvPr>
        </p:nvSpPr>
        <p:spPr>
          <a:xfrm>
            <a:off x="1622559" y="355600"/>
            <a:ext cx="10216611" cy="1325563"/>
          </a:xfrm>
        </p:spPr>
        <p:txBody>
          <a:bodyPr/>
          <a:lstStyle/>
          <a:p>
            <a:r>
              <a:rPr lang="en-US" dirty="0"/>
              <a:t>Easy practice</a:t>
            </a:r>
          </a:p>
        </p:txBody>
      </p:sp>
      <p:sp>
        <p:nvSpPr>
          <p:cNvPr id="9" name="TextBox 8"/>
          <p:cNvSpPr txBox="1"/>
          <p:nvPr/>
        </p:nvSpPr>
        <p:spPr>
          <a:xfrm>
            <a:off x="0" y="787550"/>
            <a:ext cx="1622560" cy="461665"/>
          </a:xfrm>
          <a:prstGeom prst="rect">
            <a:avLst/>
          </a:prstGeom>
          <a:solidFill>
            <a:srgbClr val="00B050"/>
          </a:solidFill>
        </p:spPr>
        <p:txBody>
          <a:bodyPr wrap="none" rtlCol="0">
            <a:spAutoFit/>
          </a:bodyPr>
          <a:lstStyle/>
          <a:p>
            <a:r>
              <a:rPr lang="en-US" sz="2400">
                <a:solidFill>
                  <a:schemeClr val="bg1"/>
                </a:solidFill>
              </a:rPr>
              <a:t>Exercise 2</a:t>
            </a:r>
            <a:endParaRPr lang="en-US" sz="2400" dirty="0">
              <a:solidFill>
                <a:schemeClr val="bg1"/>
              </a:solidFill>
            </a:endParaRPr>
          </a:p>
        </p:txBody>
      </p:sp>
      <p:sp>
        <p:nvSpPr>
          <p:cNvPr id="10" name="Rounded Rectangle 9"/>
          <p:cNvSpPr/>
          <p:nvPr/>
        </p:nvSpPr>
        <p:spPr>
          <a:xfrm>
            <a:off x="711276" y="2329954"/>
            <a:ext cx="2726868" cy="2949612"/>
          </a:xfrm>
          <a:prstGeom prst="roundRect">
            <a:avLst>
              <a:gd name="adj" fmla="val 3106"/>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385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7250"/>
            <a:ext cx="10515600" cy="1325563"/>
          </a:xfrm>
        </p:spPr>
        <p:txBody>
          <a:bodyPr/>
          <a:lstStyle/>
          <a:p>
            <a:r>
              <a:rPr lang="en-US" dirty="0">
                <a:solidFill>
                  <a:srgbClr val="C00000"/>
                </a:solidFill>
              </a:rPr>
              <a:t>Part 3</a:t>
            </a:r>
          </a:p>
        </p:txBody>
      </p:sp>
      <p:sp>
        <p:nvSpPr>
          <p:cNvPr id="3" name="Content Placeholder 2"/>
          <p:cNvSpPr>
            <a:spLocks noGrp="1"/>
          </p:cNvSpPr>
          <p:nvPr>
            <p:ph idx="1"/>
          </p:nvPr>
        </p:nvSpPr>
        <p:spPr>
          <a:xfrm>
            <a:off x="838200" y="3657599"/>
            <a:ext cx="10515600" cy="180090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dirty="0"/>
              <a:t>Interrupts</a:t>
            </a:r>
          </a:p>
        </p:txBody>
      </p:sp>
    </p:spTree>
    <p:extLst>
      <p:ext uri="{BB962C8B-B14F-4D97-AF65-F5344CB8AC3E}">
        <p14:creationId xmlns:p14="http://schemas.microsoft.com/office/powerpoint/2010/main" val="1661400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2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25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Interrupts</a:t>
            </a:r>
          </a:p>
        </p:txBody>
      </p:sp>
      <p:sp>
        <p:nvSpPr>
          <p:cNvPr id="3" name="Content Placeholder 2"/>
          <p:cNvSpPr>
            <a:spLocks noGrp="1"/>
          </p:cNvSpPr>
          <p:nvPr>
            <p:ph idx="1"/>
          </p:nvPr>
        </p:nvSpPr>
        <p:spPr>
          <a:xfrm>
            <a:off x="838200" y="1825625"/>
            <a:ext cx="5352535" cy="4351338"/>
          </a:xfrm>
        </p:spPr>
        <p:txBody>
          <a:bodyPr>
            <a:normAutofit fontScale="70000" lnSpcReduction="20000"/>
          </a:bodyPr>
          <a:lstStyle/>
          <a:p>
            <a:pPr>
              <a:lnSpc>
                <a:spcPct val="120000"/>
              </a:lnSpc>
            </a:pPr>
            <a:r>
              <a:rPr lang="en-US" sz="2400" dirty="0"/>
              <a:t>As mentioned in the previous lectures, it’s better to interrupt the running program when inputs or outputs are ready rather than keep looping and checking.</a:t>
            </a:r>
          </a:p>
          <a:p>
            <a:pPr>
              <a:lnSpc>
                <a:spcPct val="120000"/>
              </a:lnSpc>
            </a:pPr>
            <a:endParaRPr lang="en-US" sz="2400" dirty="0"/>
          </a:p>
          <a:p>
            <a:pPr>
              <a:lnSpc>
                <a:spcPct val="120000"/>
              </a:lnSpc>
            </a:pPr>
            <a:r>
              <a:rPr lang="en-US" sz="2400" dirty="0"/>
              <a:t>sometimes, the running program is not the one requesting inputs or outputs but another program.</a:t>
            </a:r>
          </a:p>
          <a:p>
            <a:pPr>
              <a:lnSpc>
                <a:spcPct val="120000"/>
              </a:lnSpc>
            </a:pPr>
            <a:endParaRPr lang="en-US" sz="2400" dirty="0"/>
          </a:p>
          <a:p>
            <a:pPr>
              <a:lnSpc>
                <a:spcPct val="120000"/>
              </a:lnSpc>
            </a:pPr>
            <a:r>
              <a:rPr lang="en-US" sz="2400" dirty="0"/>
              <a:t>When an interrupt happens, the running program pauses, we switch the other program, executes the I/O and return back to the paused one to resume.</a:t>
            </a:r>
          </a:p>
        </p:txBody>
      </p:sp>
      <p:sp>
        <p:nvSpPr>
          <p:cNvPr id="4" name="Rectangle 3"/>
          <p:cNvSpPr/>
          <p:nvPr/>
        </p:nvSpPr>
        <p:spPr>
          <a:xfrm>
            <a:off x="6775049" y="2224215"/>
            <a:ext cx="1615189" cy="25207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rgbClr val="C00000"/>
                </a:solidFill>
              </a:rPr>
              <a:t>Program 1</a:t>
            </a:r>
          </a:p>
          <a:p>
            <a:pPr algn="ctr"/>
            <a:r>
              <a:rPr lang="en-US" i="1" dirty="0">
                <a:solidFill>
                  <a:srgbClr val="C00000"/>
                </a:solidFill>
              </a:rPr>
              <a:t>---</a:t>
            </a:r>
          </a:p>
          <a:p>
            <a:pPr algn="ctr"/>
            <a:r>
              <a:rPr lang="en-US" i="1" dirty="0">
                <a:solidFill>
                  <a:srgbClr val="C00000"/>
                </a:solidFill>
              </a:rPr>
              <a:t>---</a:t>
            </a:r>
          </a:p>
          <a:p>
            <a:pPr algn="ctr"/>
            <a:r>
              <a:rPr lang="en-US" i="1" dirty="0">
                <a:solidFill>
                  <a:srgbClr val="C00000"/>
                </a:solidFill>
              </a:rPr>
              <a:t>---</a:t>
            </a:r>
          </a:p>
          <a:p>
            <a:pPr algn="ctr"/>
            <a:r>
              <a:rPr lang="en-US" i="1" dirty="0">
                <a:solidFill>
                  <a:srgbClr val="C00000"/>
                </a:solidFill>
              </a:rPr>
              <a:t>---</a:t>
            </a:r>
          </a:p>
          <a:p>
            <a:pPr algn="ctr"/>
            <a:r>
              <a:rPr lang="en-US" i="1" dirty="0">
                <a:solidFill>
                  <a:srgbClr val="C00000"/>
                </a:solidFill>
              </a:rPr>
              <a:t>---</a:t>
            </a:r>
          </a:p>
          <a:p>
            <a:pPr algn="ctr"/>
            <a:r>
              <a:rPr lang="en-US" i="1" dirty="0">
                <a:solidFill>
                  <a:srgbClr val="C00000"/>
                </a:solidFill>
              </a:rPr>
              <a:t>---</a:t>
            </a:r>
          </a:p>
        </p:txBody>
      </p:sp>
      <p:sp>
        <p:nvSpPr>
          <p:cNvPr id="5" name="Rectangle 4"/>
          <p:cNvSpPr/>
          <p:nvPr/>
        </p:nvSpPr>
        <p:spPr>
          <a:xfrm>
            <a:off x="9460584" y="2224216"/>
            <a:ext cx="1615189" cy="25207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2"/>
                </a:solidFill>
              </a:rPr>
              <a:t>I/O program</a:t>
            </a:r>
          </a:p>
          <a:p>
            <a:pPr algn="ctr"/>
            <a:r>
              <a:rPr lang="en-US" i="1" dirty="0">
                <a:solidFill>
                  <a:schemeClr val="tx2"/>
                </a:solidFill>
              </a:rPr>
              <a:t>---</a:t>
            </a:r>
          </a:p>
          <a:p>
            <a:pPr algn="ctr"/>
            <a:r>
              <a:rPr lang="en-US" i="1" dirty="0">
                <a:solidFill>
                  <a:schemeClr val="tx2"/>
                </a:solidFill>
              </a:rPr>
              <a:t>---</a:t>
            </a:r>
          </a:p>
          <a:p>
            <a:pPr algn="ctr"/>
            <a:r>
              <a:rPr lang="en-US" i="1" dirty="0">
                <a:solidFill>
                  <a:schemeClr val="tx2"/>
                </a:solidFill>
              </a:rPr>
              <a:t>---</a:t>
            </a:r>
          </a:p>
          <a:p>
            <a:pPr algn="ctr"/>
            <a:r>
              <a:rPr lang="en-US" i="1" dirty="0">
                <a:solidFill>
                  <a:schemeClr val="tx2"/>
                </a:solidFill>
              </a:rPr>
              <a:t>---</a:t>
            </a:r>
          </a:p>
          <a:p>
            <a:pPr algn="ctr"/>
            <a:r>
              <a:rPr lang="en-US" i="1" dirty="0">
                <a:solidFill>
                  <a:schemeClr val="tx2"/>
                </a:solidFill>
              </a:rPr>
              <a:t>---</a:t>
            </a:r>
          </a:p>
          <a:p>
            <a:pPr algn="ctr"/>
            <a:r>
              <a:rPr lang="en-US" i="1" dirty="0">
                <a:solidFill>
                  <a:schemeClr val="tx2"/>
                </a:solidFill>
              </a:rPr>
              <a:t>---</a:t>
            </a:r>
          </a:p>
        </p:txBody>
      </p:sp>
      <p:sp>
        <p:nvSpPr>
          <p:cNvPr id="6" name="Freeform 5"/>
          <p:cNvSpPr/>
          <p:nvPr/>
        </p:nvSpPr>
        <p:spPr>
          <a:xfrm>
            <a:off x="7760043" y="2977977"/>
            <a:ext cx="1668162" cy="546083"/>
          </a:xfrm>
          <a:custGeom>
            <a:avLst/>
            <a:gdLst>
              <a:gd name="connsiteX0" fmla="*/ 0 w 1668162"/>
              <a:gd name="connsiteY0" fmla="*/ 531342 h 546083"/>
              <a:gd name="connsiteX1" fmla="*/ 197708 w 1668162"/>
              <a:gd name="connsiteY1" fmla="*/ 531342 h 546083"/>
              <a:gd name="connsiteX2" fmla="*/ 321276 w 1668162"/>
              <a:gd name="connsiteY2" fmla="*/ 518985 h 546083"/>
              <a:gd name="connsiteX3" fmla="*/ 383060 w 1668162"/>
              <a:gd name="connsiteY3" fmla="*/ 506628 h 546083"/>
              <a:gd name="connsiteX4" fmla="*/ 469557 w 1668162"/>
              <a:gd name="connsiteY4" fmla="*/ 494272 h 546083"/>
              <a:gd name="connsiteX5" fmla="*/ 543698 w 1668162"/>
              <a:gd name="connsiteY5" fmla="*/ 469558 h 546083"/>
              <a:gd name="connsiteX6" fmla="*/ 580768 w 1668162"/>
              <a:gd name="connsiteY6" fmla="*/ 457201 h 546083"/>
              <a:gd name="connsiteX7" fmla="*/ 691979 w 1668162"/>
              <a:gd name="connsiteY7" fmla="*/ 383061 h 546083"/>
              <a:gd name="connsiteX8" fmla="*/ 729049 w 1668162"/>
              <a:gd name="connsiteY8" fmla="*/ 358347 h 546083"/>
              <a:gd name="connsiteX9" fmla="*/ 803189 w 1668162"/>
              <a:gd name="connsiteY9" fmla="*/ 296564 h 546083"/>
              <a:gd name="connsiteX10" fmla="*/ 827903 w 1668162"/>
              <a:gd name="connsiteY10" fmla="*/ 259493 h 546083"/>
              <a:gd name="connsiteX11" fmla="*/ 889687 w 1668162"/>
              <a:gd name="connsiteY11" fmla="*/ 148282 h 546083"/>
              <a:gd name="connsiteX12" fmla="*/ 926757 w 1668162"/>
              <a:gd name="connsiteY12" fmla="*/ 123569 h 546083"/>
              <a:gd name="connsiteX13" fmla="*/ 1037968 w 1668162"/>
              <a:gd name="connsiteY13" fmla="*/ 86499 h 546083"/>
              <a:gd name="connsiteX14" fmla="*/ 1173892 w 1668162"/>
              <a:gd name="connsiteY14" fmla="*/ 49428 h 546083"/>
              <a:gd name="connsiteX15" fmla="*/ 1248033 w 1668162"/>
              <a:gd name="connsiteY15" fmla="*/ 37072 h 546083"/>
              <a:gd name="connsiteX16" fmla="*/ 1408671 w 1668162"/>
              <a:gd name="connsiteY16" fmla="*/ 12358 h 546083"/>
              <a:gd name="connsiteX17" fmla="*/ 1668162 w 1668162"/>
              <a:gd name="connsiteY17" fmla="*/ 1 h 54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68162" h="546083">
                <a:moveTo>
                  <a:pt x="0" y="531342"/>
                </a:moveTo>
                <a:cubicBezTo>
                  <a:pt x="96287" y="555414"/>
                  <a:pt x="36174" y="546027"/>
                  <a:pt x="197708" y="531342"/>
                </a:cubicBezTo>
                <a:cubicBezTo>
                  <a:pt x="238933" y="527594"/>
                  <a:pt x="280244" y="524456"/>
                  <a:pt x="321276" y="518985"/>
                </a:cubicBezTo>
                <a:cubicBezTo>
                  <a:pt x="342094" y="516209"/>
                  <a:pt x="362343" y="510081"/>
                  <a:pt x="383060" y="506628"/>
                </a:cubicBezTo>
                <a:cubicBezTo>
                  <a:pt x="411789" y="501840"/>
                  <a:pt x="440725" y="498391"/>
                  <a:pt x="469557" y="494272"/>
                </a:cubicBezTo>
                <a:lnTo>
                  <a:pt x="543698" y="469558"/>
                </a:lnTo>
                <a:cubicBezTo>
                  <a:pt x="556055" y="465439"/>
                  <a:pt x="569930" y="464426"/>
                  <a:pt x="580768" y="457201"/>
                </a:cubicBezTo>
                <a:lnTo>
                  <a:pt x="691979" y="383061"/>
                </a:lnTo>
                <a:cubicBezTo>
                  <a:pt x="704336" y="374823"/>
                  <a:pt x="718548" y="368848"/>
                  <a:pt x="729049" y="358347"/>
                </a:cubicBezTo>
                <a:cubicBezTo>
                  <a:pt x="776620" y="310776"/>
                  <a:pt x="751579" y="330970"/>
                  <a:pt x="803189" y="296564"/>
                </a:cubicBezTo>
                <a:cubicBezTo>
                  <a:pt x="811427" y="284207"/>
                  <a:pt x="821261" y="272776"/>
                  <a:pt x="827903" y="259493"/>
                </a:cubicBezTo>
                <a:cubicBezTo>
                  <a:pt x="850437" y="214426"/>
                  <a:pt x="831247" y="187241"/>
                  <a:pt x="889687" y="148282"/>
                </a:cubicBezTo>
                <a:cubicBezTo>
                  <a:pt x="902044" y="140044"/>
                  <a:pt x="913186" y="129600"/>
                  <a:pt x="926757" y="123569"/>
                </a:cubicBezTo>
                <a:cubicBezTo>
                  <a:pt x="926779" y="123559"/>
                  <a:pt x="1019421" y="92681"/>
                  <a:pt x="1037968" y="86499"/>
                </a:cubicBezTo>
                <a:cubicBezTo>
                  <a:pt x="1085886" y="70527"/>
                  <a:pt x="1118141" y="58719"/>
                  <a:pt x="1173892" y="49428"/>
                </a:cubicBezTo>
                <a:lnTo>
                  <a:pt x="1248033" y="37072"/>
                </a:lnTo>
                <a:cubicBezTo>
                  <a:pt x="1322528" y="23528"/>
                  <a:pt x="1320365" y="18899"/>
                  <a:pt x="1408671" y="12358"/>
                </a:cubicBezTo>
                <a:cubicBezTo>
                  <a:pt x="1581333" y="-432"/>
                  <a:pt x="1572475" y="1"/>
                  <a:pt x="1668162" y="1"/>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flipV="1">
            <a:off x="7760043" y="3762959"/>
            <a:ext cx="1820562" cy="697832"/>
          </a:xfrm>
          <a:custGeom>
            <a:avLst/>
            <a:gdLst>
              <a:gd name="connsiteX0" fmla="*/ 0 w 1668162"/>
              <a:gd name="connsiteY0" fmla="*/ 531342 h 546083"/>
              <a:gd name="connsiteX1" fmla="*/ 197708 w 1668162"/>
              <a:gd name="connsiteY1" fmla="*/ 531342 h 546083"/>
              <a:gd name="connsiteX2" fmla="*/ 321276 w 1668162"/>
              <a:gd name="connsiteY2" fmla="*/ 518985 h 546083"/>
              <a:gd name="connsiteX3" fmla="*/ 383060 w 1668162"/>
              <a:gd name="connsiteY3" fmla="*/ 506628 h 546083"/>
              <a:gd name="connsiteX4" fmla="*/ 469557 w 1668162"/>
              <a:gd name="connsiteY4" fmla="*/ 494272 h 546083"/>
              <a:gd name="connsiteX5" fmla="*/ 543698 w 1668162"/>
              <a:gd name="connsiteY5" fmla="*/ 469558 h 546083"/>
              <a:gd name="connsiteX6" fmla="*/ 580768 w 1668162"/>
              <a:gd name="connsiteY6" fmla="*/ 457201 h 546083"/>
              <a:gd name="connsiteX7" fmla="*/ 691979 w 1668162"/>
              <a:gd name="connsiteY7" fmla="*/ 383061 h 546083"/>
              <a:gd name="connsiteX8" fmla="*/ 729049 w 1668162"/>
              <a:gd name="connsiteY8" fmla="*/ 358347 h 546083"/>
              <a:gd name="connsiteX9" fmla="*/ 803189 w 1668162"/>
              <a:gd name="connsiteY9" fmla="*/ 296564 h 546083"/>
              <a:gd name="connsiteX10" fmla="*/ 827903 w 1668162"/>
              <a:gd name="connsiteY10" fmla="*/ 259493 h 546083"/>
              <a:gd name="connsiteX11" fmla="*/ 889687 w 1668162"/>
              <a:gd name="connsiteY11" fmla="*/ 148282 h 546083"/>
              <a:gd name="connsiteX12" fmla="*/ 926757 w 1668162"/>
              <a:gd name="connsiteY12" fmla="*/ 123569 h 546083"/>
              <a:gd name="connsiteX13" fmla="*/ 1037968 w 1668162"/>
              <a:gd name="connsiteY13" fmla="*/ 86499 h 546083"/>
              <a:gd name="connsiteX14" fmla="*/ 1173892 w 1668162"/>
              <a:gd name="connsiteY14" fmla="*/ 49428 h 546083"/>
              <a:gd name="connsiteX15" fmla="*/ 1248033 w 1668162"/>
              <a:gd name="connsiteY15" fmla="*/ 37072 h 546083"/>
              <a:gd name="connsiteX16" fmla="*/ 1408671 w 1668162"/>
              <a:gd name="connsiteY16" fmla="*/ 12358 h 546083"/>
              <a:gd name="connsiteX17" fmla="*/ 1668162 w 1668162"/>
              <a:gd name="connsiteY17" fmla="*/ 1 h 546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68162" h="546083">
                <a:moveTo>
                  <a:pt x="0" y="531342"/>
                </a:moveTo>
                <a:cubicBezTo>
                  <a:pt x="96287" y="555414"/>
                  <a:pt x="36174" y="546027"/>
                  <a:pt x="197708" y="531342"/>
                </a:cubicBezTo>
                <a:cubicBezTo>
                  <a:pt x="238933" y="527594"/>
                  <a:pt x="280244" y="524456"/>
                  <a:pt x="321276" y="518985"/>
                </a:cubicBezTo>
                <a:cubicBezTo>
                  <a:pt x="342094" y="516209"/>
                  <a:pt x="362343" y="510081"/>
                  <a:pt x="383060" y="506628"/>
                </a:cubicBezTo>
                <a:cubicBezTo>
                  <a:pt x="411789" y="501840"/>
                  <a:pt x="440725" y="498391"/>
                  <a:pt x="469557" y="494272"/>
                </a:cubicBezTo>
                <a:lnTo>
                  <a:pt x="543698" y="469558"/>
                </a:lnTo>
                <a:cubicBezTo>
                  <a:pt x="556055" y="465439"/>
                  <a:pt x="569930" y="464426"/>
                  <a:pt x="580768" y="457201"/>
                </a:cubicBezTo>
                <a:lnTo>
                  <a:pt x="691979" y="383061"/>
                </a:lnTo>
                <a:cubicBezTo>
                  <a:pt x="704336" y="374823"/>
                  <a:pt x="718548" y="368848"/>
                  <a:pt x="729049" y="358347"/>
                </a:cubicBezTo>
                <a:cubicBezTo>
                  <a:pt x="776620" y="310776"/>
                  <a:pt x="751579" y="330970"/>
                  <a:pt x="803189" y="296564"/>
                </a:cubicBezTo>
                <a:cubicBezTo>
                  <a:pt x="811427" y="284207"/>
                  <a:pt x="821261" y="272776"/>
                  <a:pt x="827903" y="259493"/>
                </a:cubicBezTo>
                <a:cubicBezTo>
                  <a:pt x="850437" y="214426"/>
                  <a:pt x="831247" y="187241"/>
                  <a:pt x="889687" y="148282"/>
                </a:cubicBezTo>
                <a:cubicBezTo>
                  <a:pt x="902044" y="140044"/>
                  <a:pt x="913186" y="129600"/>
                  <a:pt x="926757" y="123569"/>
                </a:cubicBezTo>
                <a:cubicBezTo>
                  <a:pt x="926779" y="123559"/>
                  <a:pt x="1019421" y="92681"/>
                  <a:pt x="1037968" y="86499"/>
                </a:cubicBezTo>
                <a:cubicBezTo>
                  <a:pt x="1085886" y="70527"/>
                  <a:pt x="1118141" y="58719"/>
                  <a:pt x="1173892" y="49428"/>
                </a:cubicBezTo>
                <a:lnTo>
                  <a:pt x="1248033" y="37072"/>
                </a:lnTo>
                <a:cubicBezTo>
                  <a:pt x="1322528" y="23528"/>
                  <a:pt x="1320365" y="18899"/>
                  <a:pt x="1408671" y="12358"/>
                </a:cubicBezTo>
                <a:cubicBezTo>
                  <a:pt x="1581333" y="-432"/>
                  <a:pt x="1572475" y="1"/>
                  <a:pt x="1668162" y="1"/>
                </a:cubicBezTo>
              </a:path>
            </a:pathLst>
          </a:custGeom>
          <a:noFill/>
          <a:ln>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8437033" y="2331646"/>
            <a:ext cx="1075038" cy="584775"/>
          </a:xfrm>
          <a:prstGeom prst="rect">
            <a:avLst/>
          </a:prstGeom>
          <a:noFill/>
        </p:spPr>
        <p:txBody>
          <a:bodyPr wrap="square" rtlCol="0">
            <a:spAutoFit/>
          </a:bodyPr>
          <a:lstStyle/>
          <a:p>
            <a:r>
              <a:rPr lang="en-US" sz="1600"/>
              <a:t>on interrupt</a:t>
            </a:r>
          </a:p>
        </p:txBody>
      </p:sp>
      <p:sp>
        <p:nvSpPr>
          <p:cNvPr id="9" name="TextBox 8"/>
          <p:cNvSpPr txBox="1"/>
          <p:nvPr/>
        </p:nvSpPr>
        <p:spPr>
          <a:xfrm>
            <a:off x="8418041" y="4460608"/>
            <a:ext cx="1162564" cy="1323439"/>
          </a:xfrm>
          <a:prstGeom prst="rect">
            <a:avLst/>
          </a:prstGeom>
          <a:noFill/>
        </p:spPr>
        <p:txBody>
          <a:bodyPr wrap="square" rtlCol="0">
            <a:spAutoFit/>
          </a:bodyPr>
          <a:lstStyle/>
          <a:p>
            <a:r>
              <a:rPr lang="en-US" sz="1600" dirty="0"/>
              <a:t>when we finish the I/O operation, we return</a:t>
            </a:r>
          </a:p>
        </p:txBody>
      </p:sp>
    </p:spTree>
    <p:extLst>
      <p:ext uri="{BB962C8B-B14F-4D97-AF65-F5344CB8AC3E}">
        <p14:creationId xmlns:p14="http://schemas.microsoft.com/office/powerpoint/2010/main" val="615862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0808" y="1701482"/>
            <a:ext cx="10515600" cy="4351338"/>
          </a:xfrm>
        </p:spPr>
        <p:txBody>
          <a:bodyPr/>
          <a:lstStyle/>
          <a:p>
            <a:pPr>
              <a:lnSpc>
                <a:spcPct val="100000"/>
              </a:lnSpc>
              <a:spcBef>
                <a:spcPts val="0"/>
              </a:spcBef>
            </a:pPr>
            <a:r>
              <a:rPr lang="en-US" dirty="0"/>
              <a:t>The running program must have ION (to enable the interrupts).</a:t>
            </a:r>
          </a:p>
          <a:p>
            <a:pPr>
              <a:lnSpc>
                <a:spcPct val="100000"/>
              </a:lnSpc>
              <a:spcBef>
                <a:spcPts val="0"/>
              </a:spcBef>
            </a:pPr>
            <a:endParaRPr lang="en-US" dirty="0"/>
          </a:p>
          <a:p>
            <a:pPr>
              <a:lnSpc>
                <a:spcPct val="100000"/>
              </a:lnSpc>
              <a:spcBef>
                <a:spcPts val="0"/>
              </a:spcBef>
            </a:pPr>
            <a:r>
              <a:rPr lang="en-US" dirty="0"/>
              <a:t>When it happens, the instruction currently being executed is continued and the interrupt is handled right after.</a:t>
            </a:r>
          </a:p>
          <a:p>
            <a:pPr>
              <a:lnSpc>
                <a:spcPct val="100000"/>
              </a:lnSpc>
              <a:spcBef>
                <a:spcPts val="0"/>
              </a:spcBef>
            </a:pPr>
            <a:endParaRPr lang="en-US" dirty="0"/>
          </a:p>
          <a:p>
            <a:pPr>
              <a:lnSpc>
                <a:spcPct val="100000"/>
              </a:lnSpc>
              <a:spcBef>
                <a:spcPts val="0"/>
              </a:spcBef>
            </a:pPr>
            <a:r>
              <a:rPr lang="en-US" b="1" dirty="0">
                <a:solidFill>
                  <a:srgbClr val="C00000"/>
                </a:solidFill>
              </a:rPr>
              <a:t>What if the running program has some values saved into the processor registers E and AC? if we jump to the I/O program, they may be overridden and lost </a:t>
            </a:r>
            <a:r>
              <a:rPr lang="en-US" b="1" dirty="0">
                <a:solidFill>
                  <a:srgbClr val="C00000"/>
                </a:solidFill>
                <a:sym typeface="Wingdings"/>
              </a:rPr>
              <a:t></a:t>
            </a:r>
            <a:endParaRPr lang="en-US" b="1" dirty="0">
              <a:solidFill>
                <a:srgbClr val="C00000"/>
              </a:solidFill>
            </a:endParaRPr>
          </a:p>
        </p:txBody>
      </p:sp>
      <p:sp>
        <p:nvSpPr>
          <p:cNvPr id="4" name="Title 1"/>
          <p:cNvSpPr>
            <a:spLocks noGrp="1"/>
          </p:cNvSpPr>
          <p:nvPr>
            <p:ph type="title"/>
          </p:nvPr>
        </p:nvSpPr>
        <p:spPr/>
        <p:txBody>
          <a:bodyPr/>
          <a:lstStyle/>
          <a:p>
            <a:r>
              <a:rPr lang="en-US" dirty="0"/>
              <a:t>Interrupts</a:t>
            </a:r>
          </a:p>
        </p:txBody>
      </p:sp>
      <p:pic>
        <p:nvPicPr>
          <p:cNvPr id="1026" name="Picture 2" descr="anger warning attention sign icon Royalty Free Vector Image"/>
          <p:cNvPicPr>
            <a:picLocks noChangeAspect="1" noChangeArrowheads="1"/>
          </p:cNvPicPr>
          <p:nvPr/>
        </p:nvPicPr>
        <p:blipFill rotWithShape="1">
          <a:blip r:embed="rId2">
            <a:extLst>
              <a:ext uri="{28A0092B-C50C-407E-A947-70E740481C1C}">
                <a14:useLocalDpi xmlns:a14="http://schemas.microsoft.com/office/drawing/2010/main" val="0"/>
              </a:ext>
            </a:extLst>
          </a:blip>
          <a:srcRect b="8174"/>
          <a:stretch/>
        </p:blipFill>
        <p:spPr bwMode="auto">
          <a:xfrm>
            <a:off x="260604" y="3877151"/>
            <a:ext cx="1155192" cy="1024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1868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Reminder about interrupt cycle</a:t>
            </a:r>
          </a:p>
        </p:txBody>
      </p:sp>
      <p:pic>
        <p:nvPicPr>
          <p:cNvPr id="4" name="Picture 3"/>
          <p:cNvPicPr>
            <a:picLocks noChangeAspect="1"/>
          </p:cNvPicPr>
          <p:nvPr/>
        </p:nvPicPr>
        <p:blipFill>
          <a:blip r:embed="rId2"/>
          <a:stretch>
            <a:fillRect/>
          </a:stretch>
        </p:blipFill>
        <p:spPr>
          <a:xfrm>
            <a:off x="7880137" y="1690688"/>
            <a:ext cx="2463800" cy="4432300"/>
          </a:xfrm>
          <a:prstGeom prst="rect">
            <a:avLst/>
          </a:prstGeom>
        </p:spPr>
      </p:pic>
      <p:sp>
        <p:nvSpPr>
          <p:cNvPr id="3" name="Rectangle 2"/>
          <p:cNvSpPr/>
          <p:nvPr/>
        </p:nvSpPr>
        <p:spPr>
          <a:xfrm>
            <a:off x="838200" y="1815922"/>
            <a:ext cx="6096000" cy="3108543"/>
          </a:xfrm>
          <a:prstGeom prst="rect">
            <a:avLst/>
          </a:prstGeom>
        </p:spPr>
        <p:txBody>
          <a:bodyPr>
            <a:spAutoFit/>
          </a:bodyPr>
          <a:lstStyle/>
          <a:p>
            <a:pPr marL="285750" indent="-285750">
              <a:buFont typeface="Arial" charset="0"/>
              <a:buChar char="•"/>
            </a:pPr>
            <a:r>
              <a:rPr lang="en-US" sz="2800" dirty="0"/>
              <a:t>From the last lecture, the return address is stored in memory location [0].</a:t>
            </a:r>
          </a:p>
          <a:p>
            <a:pPr marL="285750" indent="-285750">
              <a:buFont typeface="Arial" charset="0"/>
              <a:buChar char="•"/>
            </a:pPr>
            <a:endParaRPr lang="en-US" sz="2800" dirty="0"/>
          </a:p>
          <a:p>
            <a:pPr marL="285750" indent="-285750">
              <a:buFont typeface="Arial" charset="0"/>
              <a:buChar char="•"/>
            </a:pPr>
            <a:r>
              <a:rPr lang="en-US" sz="2800" dirty="0"/>
              <a:t>In memory location [1], a branch is stored to jump to the start of the interrupt routine.</a:t>
            </a:r>
          </a:p>
        </p:txBody>
      </p:sp>
    </p:spTree>
    <p:extLst>
      <p:ext uri="{BB962C8B-B14F-4D97-AF65-F5344CB8AC3E}">
        <p14:creationId xmlns:p14="http://schemas.microsoft.com/office/powerpoint/2010/main" val="1105440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behavior </a:t>
            </a:r>
            <a:r>
              <a:rPr lang="en-US" dirty="0">
                <a:solidFill>
                  <a:srgbClr val="C00000"/>
                </a:solidFill>
              </a:rPr>
              <a:t>alterations</a:t>
            </a:r>
          </a:p>
        </p:txBody>
      </p:sp>
      <p:sp>
        <p:nvSpPr>
          <p:cNvPr id="4" name="Rectangle 3"/>
          <p:cNvSpPr/>
          <p:nvPr/>
        </p:nvSpPr>
        <p:spPr>
          <a:xfrm>
            <a:off x="243840" y="1980599"/>
            <a:ext cx="11504141" cy="954107"/>
          </a:xfrm>
          <a:prstGeom prst="rect">
            <a:avLst/>
          </a:prstGeom>
        </p:spPr>
        <p:txBody>
          <a:bodyPr wrap="square">
            <a:spAutoFit/>
          </a:bodyPr>
          <a:lstStyle/>
          <a:p>
            <a:pPr marL="285750" indent="-285750">
              <a:buFont typeface="Arial" charset="0"/>
              <a:buChar char="•"/>
            </a:pPr>
            <a:r>
              <a:rPr lang="en-US" sz="2800" dirty="0">
                <a:solidFill>
                  <a:srgbClr val="C00000"/>
                </a:solidFill>
                <a:latin typeface="Arial" charset="0"/>
                <a:ea typeface="Arial" charset="0"/>
                <a:cs typeface="Arial" charset="0"/>
              </a:rPr>
              <a:t>The service routine must have instructions to perform the following tasks</a:t>
            </a:r>
          </a:p>
        </p:txBody>
      </p:sp>
      <p:sp>
        <p:nvSpPr>
          <p:cNvPr id="5" name="Rectangle 4"/>
          <p:cNvSpPr/>
          <p:nvPr/>
        </p:nvSpPr>
        <p:spPr>
          <a:xfrm>
            <a:off x="243840" y="2934706"/>
            <a:ext cx="11704320" cy="3416320"/>
          </a:xfrm>
          <a:prstGeom prst="rect">
            <a:avLst/>
          </a:prstGeom>
        </p:spPr>
        <p:txBody>
          <a:bodyPr wrap="square">
            <a:spAutoFit/>
          </a:bodyPr>
          <a:lstStyle/>
          <a:p>
            <a:pPr>
              <a:lnSpc>
                <a:spcPct val="150000"/>
              </a:lnSpc>
            </a:pPr>
            <a:r>
              <a:rPr lang="en-US" sz="2400" dirty="0">
                <a:latin typeface="Arial" charset="0"/>
                <a:ea typeface="Arial" charset="0"/>
                <a:cs typeface="Arial" charset="0"/>
              </a:rPr>
              <a:t>1. Save contents of processor registers. (of the running program)</a:t>
            </a:r>
          </a:p>
          <a:p>
            <a:pPr>
              <a:lnSpc>
                <a:spcPct val="150000"/>
              </a:lnSpc>
            </a:pPr>
            <a:r>
              <a:rPr lang="en-US" sz="2400" dirty="0">
                <a:latin typeface="Arial" charset="0"/>
                <a:ea typeface="Arial" charset="0"/>
                <a:cs typeface="Arial" charset="0"/>
              </a:rPr>
              <a:t>2. Check which flag is set.</a:t>
            </a:r>
          </a:p>
          <a:p>
            <a:pPr>
              <a:lnSpc>
                <a:spcPct val="150000"/>
              </a:lnSpc>
            </a:pPr>
            <a:r>
              <a:rPr lang="en-US" sz="2400" dirty="0">
                <a:latin typeface="Arial" charset="0"/>
                <a:ea typeface="Arial" charset="0"/>
                <a:cs typeface="Arial" charset="0"/>
              </a:rPr>
              <a:t>3. Service the device whose flag is set</a:t>
            </a:r>
          </a:p>
          <a:p>
            <a:pPr>
              <a:lnSpc>
                <a:spcPct val="150000"/>
              </a:lnSpc>
            </a:pPr>
            <a:r>
              <a:rPr lang="en-US" sz="2400" dirty="0">
                <a:latin typeface="Arial" charset="0"/>
                <a:ea typeface="Arial" charset="0"/>
                <a:cs typeface="Arial" charset="0"/>
              </a:rPr>
              <a:t>4. Restore contents of processor registers. (when done with the servicing of the I/O)</a:t>
            </a:r>
          </a:p>
          <a:p>
            <a:pPr>
              <a:lnSpc>
                <a:spcPct val="150000"/>
              </a:lnSpc>
            </a:pPr>
            <a:r>
              <a:rPr lang="en-US" sz="2400" dirty="0">
                <a:latin typeface="Arial" charset="0"/>
                <a:ea typeface="Arial" charset="0"/>
                <a:cs typeface="Arial" charset="0"/>
              </a:rPr>
              <a:t>5. Turn the interrupt facility back on. (remember the interrupt cycle turned it off)</a:t>
            </a:r>
          </a:p>
          <a:p>
            <a:pPr>
              <a:lnSpc>
                <a:spcPct val="150000"/>
              </a:lnSpc>
            </a:pPr>
            <a:r>
              <a:rPr lang="en-US" sz="2400" dirty="0">
                <a:latin typeface="Arial" charset="0"/>
                <a:ea typeface="Arial" charset="0"/>
                <a:cs typeface="Arial" charset="0"/>
              </a:rPr>
              <a:t>6. Return to the running program</a:t>
            </a:r>
          </a:p>
        </p:txBody>
      </p:sp>
    </p:spTree>
    <p:extLst>
      <p:ext uri="{BB962C8B-B14F-4D97-AF65-F5344CB8AC3E}">
        <p14:creationId xmlns:p14="http://schemas.microsoft.com/office/powerpoint/2010/main" val="17712688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Example</a:t>
            </a:r>
          </a:p>
        </p:txBody>
      </p:sp>
      <p:pic>
        <p:nvPicPr>
          <p:cNvPr id="4" name="Picture 3"/>
          <p:cNvPicPr>
            <a:picLocks noChangeAspect="1"/>
          </p:cNvPicPr>
          <p:nvPr/>
        </p:nvPicPr>
        <p:blipFill>
          <a:blip r:embed="rId3"/>
          <a:stretch>
            <a:fillRect/>
          </a:stretch>
        </p:blipFill>
        <p:spPr>
          <a:xfrm>
            <a:off x="170936" y="1239066"/>
            <a:ext cx="5340178" cy="4235938"/>
          </a:xfrm>
          <a:prstGeom prst="rect">
            <a:avLst/>
          </a:prstGeom>
        </p:spPr>
      </p:pic>
      <p:pic>
        <p:nvPicPr>
          <p:cNvPr id="5" name="Picture 4"/>
          <p:cNvPicPr>
            <a:picLocks noChangeAspect="1"/>
          </p:cNvPicPr>
          <p:nvPr/>
        </p:nvPicPr>
        <p:blipFill>
          <a:blip r:embed="rId4"/>
          <a:stretch>
            <a:fillRect/>
          </a:stretch>
        </p:blipFill>
        <p:spPr>
          <a:xfrm>
            <a:off x="6734431" y="2151495"/>
            <a:ext cx="4890398" cy="3410006"/>
          </a:xfrm>
          <a:prstGeom prst="rect">
            <a:avLst/>
          </a:prstGeom>
        </p:spPr>
      </p:pic>
      <p:cxnSp>
        <p:nvCxnSpPr>
          <p:cNvPr id="8" name="Straight Arrow Connector 7"/>
          <p:cNvCxnSpPr/>
          <p:nvPr/>
        </p:nvCxnSpPr>
        <p:spPr>
          <a:xfrm flipH="1">
            <a:off x="4361935" y="1520652"/>
            <a:ext cx="2669060" cy="1160764"/>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379025" y="662781"/>
            <a:ext cx="5058724" cy="830997"/>
          </a:xfrm>
          <a:prstGeom prst="rect">
            <a:avLst/>
          </a:prstGeom>
          <a:noFill/>
        </p:spPr>
        <p:txBody>
          <a:bodyPr wrap="square" rtlCol="0">
            <a:spAutoFit/>
          </a:bodyPr>
          <a:lstStyle/>
          <a:p>
            <a:r>
              <a:rPr lang="en-US" sz="2400" b="1" dirty="0">
                <a:solidFill>
                  <a:schemeClr val="accent2">
                    <a:lumMod val="75000"/>
                  </a:schemeClr>
                </a:solidFill>
              </a:rPr>
              <a:t>What happens now if interrupt happens here?</a:t>
            </a:r>
          </a:p>
        </p:txBody>
      </p:sp>
    </p:spTree>
    <p:extLst>
      <p:ext uri="{BB962C8B-B14F-4D97-AF65-F5344CB8AC3E}">
        <p14:creationId xmlns:p14="http://schemas.microsoft.com/office/powerpoint/2010/main" val="12948087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Example</a:t>
            </a:r>
          </a:p>
        </p:txBody>
      </p:sp>
      <p:pic>
        <p:nvPicPr>
          <p:cNvPr id="4" name="Picture 3"/>
          <p:cNvPicPr>
            <a:picLocks noChangeAspect="1"/>
          </p:cNvPicPr>
          <p:nvPr/>
        </p:nvPicPr>
        <p:blipFill>
          <a:blip r:embed="rId3"/>
          <a:stretch>
            <a:fillRect/>
          </a:stretch>
        </p:blipFill>
        <p:spPr>
          <a:xfrm>
            <a:off x="170936" y="1239066"/>
            <a:ext cx="5340178" cy="4235938"/>
          </a:xfrm>
          <a:prstGeom prst="rect">
            <a:avLst/>
          </a:prstGeom>
        </p:spPr>
      </p:pic>
      <p:pic>
        <p:nvPicPr>
          <p:cNvPr id="5" name="Picture 4"/>
          <p:cNvPicPr>
            <a:picLocks noChangeAspect="1"/>
          </p:cNvPicPr>
          <p:nvPr/>
        </p:nvPicPr>
        <p:blipFill>
          <a:blip r:embed="rId4"/>
          <a:stretch>
            <a:fillRect/>
          </a:stretch>
        </p:blipFill>
        <p:spPr>
          <a:xfrm>
            <a:off x="6734431" y="2151495"/>
            <a:ext cx="4890398" cy="3410006"/>
          </a:xfrm>
          <a:prstGeom prst="rect">
            <a:avLst/>
          </a:prstGeom>
        </p:spPr>
      </p:pic>
      <p:cxnSp>
        <p:nvCxnSpPr>
          <p:cNvPr id="8" name="Straight Arrow Connector 7"/>
          <p:cNvCxnSpPr/>
          <p:nvPr/>
        </p:nvCxnSpPr>
        <p:spPr>
          <a:xfrm flipH="1">
            <a:off x="4263081" y="1520652"/>
            <a:ext cx="2767914" cy="2211089"/>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734431" y="1058987"/>
            <a:ext cx="3581430" cy="461665"/>
          </a:xfrm>
          <a:prstGeom prst="rect">
            <a:avLst/>
          </a:prstGeom>
          <a:noFill/>
        </p:spPr>
        <p:txBody>
          <a:bodyPr wrap="none" rtlCol="0">
            <a:spAutoFit/>
          </a:bodyPr>
          <a:lstStyle/>
          <a:p>
            <a:r>
              <a:rPr lang="en-US" sz="2400" b="1" dirty="0">
                <a:solidFill>
                  <a:schemeClr val="accent2">
                    <a:lumMod val="75000"/>
                  </a:schemeClr>
                </a:solidFill>
              </a:rPr>
              <a:t>What is going on here?</a:t>
            </a:r>
          </a:p>
        </p:txBody>
      </p:sp>
      <p:sp>
        <p:nvSpPr>
          <p:cNvPr id="15" name="Rectangle 14"/>
          <p:cNvSpPr/>
          <p:nvPr/>
        </p:nvSpPr>
        <p:spPr>
          <a:xfrm>
            <a:off x="978215" y="3608173"/>
            <a:ext cx="3284866" cy="66726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925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Example</a:t>
            </a:r>
          </a:p>
        </p:txBody>
      </p:sp>
      <p:pic>
        <p:nvPicPr>
          <p:cNvPr id="4" name="Picture 3"/>
          <p:cNvPicPr>
            <a:picLocks noChangeAspect="1"/>
          </p:cNvPicPr>
          <p:nvPr/>
        </p:nvPicPr>
        <p:blipFill>
          <a:blip r:embed="rId3"/>
          <a:stretch>
            <a:fillRect/>
          </a:stretch>
        </p:blipFill>
        <p:spPr>
          <a:xfrm>
            <a:off x="170936" y="1239066"/>
            <a:ext cx="5340178" cy="4235938"/>
          </a:xfrm>
          <a:prstGeom prst="rect">
            <a:avLst/>
          </a:prstGeom>
        </p:spPr>
      </p:pic>
      <p:pic>
        <p:nvPicPr>
          <p:cNvPr id="5" name="Picture 4"/>
          <p:cNvPicPr>
            <a:picLocks noChangeAspect="1"/>
          </p:cNvPicPr>
          <p:nvPr/>
        </p:nvPicPr>
        <p:blipFill>
          <a:blip r:embed="rId4"/>
          <a:stretch>
            <a:fillRect/>
          </a:stretch>
        </p:blipFill>
        <p:spPr>
          <a:xfrm>
            <a:off x="6734431" y="2151495"/>
            <a:ext cx="4890398" cy="3410006"/>
          </a:xfrm>
          <a:prstGeom prst="rect">
            <a:avLst/>
          </a:prstGeom>
        </p:spPr>
      </p:pic>
      <p:sp>
        <p:nvSpPr>
          <p:cNvPr id="9" name="TextBox 8"/>
          <p:cNvSpPr txBox="1"/>
          <p:nvPr/>
        </p:nvSpPr>
        <p:spPr>
          <a:xfrm>
            <a:off x="5109520" y="567337"/>
            <a:ext cx="3581430" cy="461665"/>
          </a:xfrm>
          <a:prstGeom prst="rect">
            <a:avLst/>
          </a:prstGeom>
          <a:noFill/>
        </p:spPr>
        <p:txBody>
          <a:bodyPr wrap="none" rtlCol="0">
            <a:spAutoFit/>
          </a:bodyPr>
          <a:lstStyle/>
          <a:p>
            <a:r>
              <a:rPr lang="en-US" sz="2400" b="1" dirty="0">
                <a:solidFill>
                  <a:schemeClr val="accent2">
                    <a:lumMod val="75000"/>
                  </a:schemeClr>
                </a:solidFill>
              </a:rPr>
              <a:t>What is going on here?</a:t>
            </a:r>
          </a:p>
        </p:txBody>
      </p:sp>
      <p:cxnSp>
        <p:nvCxnSpPr>
          <p:cNvPr id="11" name="Straight Arrow Connector 10"/>
          <p:cNvCxnSpPr>
            <a:stCxn id="9" idx="2"/>
            <a:endCxn id="16" idx="3"/>
          </p:cNvCxnSpPr>
          <p:nvPr/>
        </p:nvCxnSpPr>
        <p:spPr>
          <a:xfrm flipH="1">
            <a:off x="4937540" y="1029002"/>
            <a:ext cx="1962695" cy="3819331"/>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9" idx="2"/>
            <a:endCxn id="5" idx="0"/>
          </p:cNvCxnSpPr>
          <p:nvPr/>
        </p:nvCxnSpPr>
        <p:spPr>
          <a:xfrm>
            <a:off x="6900235" y="1029002"/>
            <a:ext cx="2279395" cy="1122493"/>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652674" y="4263082"/>
            <a:ext cx="3284866" cy="11705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734431" y="2167519"/>
            <a:ext cx="4890398" cy="11705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4866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a:t>Example</a:t>
            </a:r>
          </a:p>
        </p:txBody>
      </p:sp>
      <p:pic>
        <p:nvPicPr>
          <p:cNvPr id="4" name="Picture 3"/>
          <p:cNvPicPr>
            <a:picLocks noChangeAspect="1"/>
          </p:cNvPicPr>
          <p:nvPr/>
        </p:nvPicPr>
        <p:blipFill>
          <a:blip r:embed="rId3"/>
          <a:stretch>
            <a:fillRect/>
          </a:stretch>
        </p:blipFill>
        <p:spPr>
          <a:xfrm>
            <a:off x="170936" y="1239066"/>
            <a:ext cx="5340178" cy="4235938"/>
          </a:xfrm>
          <a:prstGeom prst="rect">
            <a:avLst/>
          </a:prstGeom>
        </p:spPr>
      </p:pic>
      <p:pic>
        <p:nvPicPr>
          <p:cNvPr id="5" name="Picture 4"/>
          <p:cNvPicPr>
            <a:picLocks noChangeAspect="1"/>
          </p:cNvPicPr>
          <p:nvPr/>
        </p:nvPicPr>
        <p:blipFill>
          <a:blip r:embed="rId4"/>
          <a:stretch>
            <a:fillRect/>
          </a:stretch>
        </p:blipFill>
        <p:spPr>
          <a:xfrm>
            <a:off x="6734431" y="2151495"/>
            <a:ext cx="4890398" cy="3410006"/>
          </a:xfrm>
          <a:prstGeom prst="rect">
            <a:avLst/>
          </a:prstGeom>
        </p:spPr>
      </p:pic>
      <p:sp>
        <p:nvSpPr>
          <p:cNvPr id="9" name="TextBox 8"/>
          <p:cNvSpPr txBox="1"/>
          <p:nvPr/>
        </p:nvSpPr>
        <p:spPr>
          <a:xfrm>
            <a:off x="5603789" y="1325563"/>
            <a:ext cx="1223317" cy="1938992"/>
          </a:xfrm>
          <a:prstGeom prst="rect">
            <a:avLst/>
          </a:prstGeom>
          <a:noFill/>
        </p:spPr>
        <p:txBody>
          <a:bodyPr wrap="square" rtlCol="0">
            <a:spAutoFit/>
          </a:bodyPr>
          <a:lstStyle/>
          <a:p>
            <a:r>
              <a:rPr lang="en-US" sz="2400" b="1" dirty="0">
                <a:solidFill>
                  <a:schemeClr val="accent2">
                    <a:lumMod val="75000"/>
                  </a:schemeClr>
                </a:solidFill>
              </a:rPr>
              <a:t>What is going on here?</a:t>
            </a:r>
          </a:p>
        </p:txBody>
      </p:sp>
      <p:cxnSp>
        <p:nvCxnSpPr>
          <p:cNvPr id="11" name="Straight Arrow Connector 10"/>
          <p:cNvCxnSpPr/>
          <p:nvPr/>
        </p:nvCxnSpPr>
        <p:spPr>
          <a:xfrm>
            <a:off x="6030097" y="3237470"/>
            <a:ext cx="704334" cy="234779"/>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6734431" y="3346373"/>
            <a:ext cx="4547288" cy="11705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02588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9F080-91E9-2E45-900D-4DE48F96A732}"/>
              </a:ext>
            </a:extLst>
          </p:cNvPr>
          <p:cNvSpPr>
            <a:spLocks noGrp="1"/>
          </p:cNvSpPr>
          <p:nvPr>
            <p:ph type="title"/>
          </p:nvPr>
        </p:nvSpPr>
        <p:spPr/>
        <p:txBody>
          <a:bodyPr/>
          <a:lstStyle/>
          <a:p>
            <a:r>
              <a:rPr lang="en-US" dirty="0"/>
              <a:t>Class exercise 1 (from tutorial)</a:t>
            </a:r>
          </a:p>
        </p:txBody>
      </p:sp>
      <p:sp>
        <p:nvSpPr>
          <p:cNvPr id="3" name="Content Placeholder 2">
            <a:extLst>
              <a:ext uri="{FF2B5EF4-FFF2-40B4-BE49-F238E27FC236}">
                <a16:creationId xmlns:a16="http://schemas.microsoft.com/office/drawing/2014/main" id="{5CD9538A-94DE-2D44-B37D-D6B968E82367}"/>
              </a:ext>
            </a:extLst>
          </p:cNvPr>
          <p:cNvSpPr>
            <a:spLocks noGrp="1"/>
          </p:cNvSpPr>
          <p:nvPr>
            <p:ph idx="1"/>
          </p:nvPr>
        </p:nvSpPr>
        <p:spPr/>
        <p:txBody>
          <a:bodyPr/>
          <a:lstStyle/>
          <a:p>
            <a:r>
              <a:rPr lang="en-US" dirty="0">
                <a:effectLst/>
                <a:latin typeface="Helvetica" pitchFamily="2" charset="0"/>
              </a:rPr>
              <a:t>Write an interrupt service routine that performs all required functions but the input device is serviced only if a special location, MOD, contains all 1’s. </a:t>
            </a:r>
          </a:p>
          <a:p>
            <a:r>
              <a:rPr lang="en-US" dirty="0">
                <a:effectLst/>
                <a:latin typeface="Helvetica" pitchFamily="2" charset="0"/>
              </a:rPr>
              <a:t>The output device is serviced only if location MOD contains all 0’s</a:t>
            </a:r>
          </a:p>
          <a:p>
            <a:endParaRPr lang="en-US" dirty="0"/>
          </a:p>
        </p:txBody>
      </p:sp>
    </p:spTree>
    <p:extLst>
      <p:ext uri="{BB962C8B-B14F-4D97-AF65-F5344CB8AC3E}">
        <p14:creationId xmlns:p14="http://schemas.microsoft.com/office/powerpoint/2010/main" val="2256831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8820-BA76-C740-8C5D-619D3F1B075E}"/>
              </a:ext>
            </a:extLst>
          </p:cNvPr>
          <p:cNvSpPr>
            <a:spLocks noGrp="1"/>
          </p:cNvSpPr>
          <p:nvPr>
            <p:ph type="title"/>
          </p:nvPr>
        </p:nvSpPr>
        <p:spPr/>
        <p:txBody>
          <a:bodyPr/>
          <a:lstStyle/>
          <a:p>
            <a:r>
              <a:rPr lang="en-US" dirty="0"/>
              <a:t>Class exercise 2 (from tutorial)</a:t>
            </a:r>
          </a:p>
        </p:txBody>
      </p:sp>
      <p:sp>
        <p:nvSpPr>
          <p:cNvPr id="3" name="Content Placeholder 2">
            <a:extLst>
              <a:ext uri="{FF2B5EF4-FFF2-40B4-BE49-F238E27FC236}">
                <a16:creationId xmlns:a16="http://schemas.microsoft.com/office/drawing/2014/main" id="{7A813F39-4C74-A246-8ED8-26A679A9EDB8}"/>
              </a:ext>
            </a:extLst>
          </p:cNvPr>
          <p:cNvSpPr>
            <a:spLocks noGrp="1"/>
          </p:cNvSpPr>
          <p:nvPr>
            <p:ph idx="1"/>
          </p:nvPr>
        </p:nvSpPr>
        <p:spPr/>
        <p:txBody>
          <a:bodyPr/>
          <a:lstStyle/>
          <a:p>
            <a:r>
              <a:rPr lang="en-US" dirty="0">
                <a:effectLst/>
                <a:latin typeface="Helvetica" pitchFamily="2" charset="0"/>
              </a:rPr>
              <a:t>Write a program for the arithmetic shift left position. Branch to OVF if an overflow occurs and set a flag FLG to 1. Otherwise, branch to EXT.</a:t>
            </a:r>
          </a:p>
          <a:p>
            <a:endParaRPr lang="en-US" dirty="0"/>
          </a:p>
        </p:txBody>
      </p:sp>
    </p:spTree>
    <p:extLst>
      <p:ext uri="{BB962C8B-B14F-4D97-AF65-F5344CB8AC3E}">
        <p14:creationId xmlns:p14="http://schemas.microsoft.com/office/powerpoint/2010/main" val="1916691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FE34C-F595-BA41-A199-2147683B7C0F}"/>
              </a:ext>
            </a:extLst>
          </p:cNvPr>
          <p:cNvSpPr>
            <a:spLocks noGrp="1"/>
          </p:cNvSpPr>
          <p:nvPr>
            <p:ph type="title"/>
          </p:nvPr>
        </p:nvSpPr>
        <p:spPr/>
        <p:txBody>
          <a:bodyPr/>
          <a:lstStyle/>
          <a:p>
            <a:r>
              <a:rPr lang="en-US" dirty="0"/>
              <a:t>Class exercise 3 (from tutorial)</a:t>
            </a:r>
          </a:p>
        </p:txBody>
      </p:sp>
      <p:sp>
        <p:nvSpPr>
          <p:cNvPr id="3" name="Content Placeholder 2">
            <a:extLst>
              <a:ext uri="{FF2B5EF4-FFF2-40B4-BE49-F238E27FC236}">
                <a16:creationId xmlns:a16="http://schemas.microsoft.com/office/drawing/2014/main" id="{CAC579C3-FE28-1A4B-9433-F5EE3EC902E4}"/>
              </a:ext>
            </a:extLst>
          </p:cNvPr>
          <p:cNvSpPr>
            <a:spLocks noGrp="1"/>
          </p:cNvSpPr>
          <p:nvPr>
            <p:ph idx="1"/>
          </p:nvPr>
        </p:nvSpPr>
        <p:spPr/>
        <p:txBody>
          <a:bodyPr/>
          <a:lstStyle/>
          <a:p>
            <a:r>
              <a:rPr lang="en-US" dirty="0">
                <a:effectLst/>
                <a:latin typeface="Helvetica" pitchFamily="2" charset="0"/>
              </a:rPr>
              <a:t>Write down a program to unpack two characters from location WRD and store them in bits 0 through 7 of locations CH1 and CH2. Bits 8 through 15 should contain zeros.</a:t>
            </a:r>
          </a:p>
          <a:p>
            <a:endParaRPr lang="en-US" dirty="0"/>
          </a:p>
        </p:txBody>
      </p:sp>
    </p:spTree>
    <p:extLst>
      <p:ext uri="{BB962C8B-B14F-4D97-AF65-F5344CB8AC3E}">
        <p14:creationId xmlns:p14="http://schemas.microsoft.com/office/powerpoint/2010/main" val="18966678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488" y="2851150"/>
            <a:ext cx="10515600" cy="1325563"/>
          </a:xfrm>
        </p:spPr>
        <p:txBody>
          <a:bodyPr/>
          <a:lstStyle/>
          <a:p>
            <a:pPr algn="ctr"/>
            <a:r>
              <a:rPr lang="en-US" dirty="0"/>
              <a:t>End of lecture 9</a:t>
            </a:r>
          </a:p>
        </p:txBody>
      </p:sp>
    </p:spTree>
    <p:extLst>
      <p:ext uri="{BB962C8B-B14F-4D97-AF65-F5344CB8AC3E}">
        <p14:creationId xmlns:p14="http://schemas.microsoft.com/office/powerpoint/2010/main" val="1141982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65655</TotalTime>
  <Words>1829</Words>
  <Application>Microsoft Macintosh PowerPoint</Application>
  <PresentationFormat>Widescreen</PresentationFormat>
  <Paragraphs>273</Paragraphs>
  <Slides>38</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Avenir Book</vt:lpstr>
      <vt:lpstr>Calibri</vt:lpstr>
      <vt:lpstr>Courier</vt:lpstr>
      <vt:lpstr>Helvetica</vt:lpstr>
      <vt:lpstr>Helvetica Neue</vt:lpstr>
      <vt:lpstr>Times New Roman</vt:lpstr>
      <vt:lpstr>Wingdings</vt:lpstr>
      <vt:lpstr>Office Theme</vt:lpstr>
      <vt:lpstr>PowerPoint Presentation</vt:lpstr>
      <vt:lpstr>Part 1</vt:lpstr>
      <vt:lpstr>Subroutines</vt:lpstr>
      <vt:lpstr>Subroutines concept</vt:lpstr>
      <vt:lpstr>BSA  reminder</vt:lpstr>
      <vt:lpstr>Subroutine example</vt:lpstr>
      <vt:lpstr>Subroutine example</vt:lpstr>
      <vt:lpstr>Subroutine example</vt:lpstr>
      <vt:lpstr>Subroutine example</vt:lpstr>
      <vt:lpstr>A more advanced Subroutine</vt:lpstr>
      <vt:lpstr>Subroutine Example 2</vt:lpstr>
      <vt:lpstr>Subroutine Example 2</vt:lpstr>
      <vt:lpstr>Subroutine Example 2: Analysis (1)</vt:lpstr>
      <vt:lpstr>Subroutine Example 2: Analysis (2)</vt:lpstr>
      <vt:lpstr>Subroutine Example 2: Analysis (3)</vt:lpstr>
      <vt:lpstr>Subroutine Example 2: Analysis (4)</vt:lpstr>
      <vt:lpstr>Home exercise</vt:lpstr>
      <vt:lpstr>Part 2</vt:lpstr>
      <vt:lpstr>I/O instructions reminder</vt:lpstr>
      <vt:lpstr>Remember these programs for inputting and outputting a character?</vt:lpstr>
      <vt:lpstr>Character manipulation</vt:lpstr>
      <vt:lpstr>Before we continue…</vt:lpstr>
      <vt:lpstr>Code for subroutine IN2</vt:lpstr>
      <vt:lpstr>   What does this code do?</vt:lpstr>
      <vt:lpstr>Easy practice</vt:lpstr>
      <vt:lpstr>Part 3</vt:lpstr>
      <vt:lpstr>Interrupts</vt:lpstr>
      <vt:lpstr>Interrupts</vt:lpstr>
      <vt:lpstr>Reminder about interrupt cycle</vt:lpstr>
      <vt:lpstr>Interrupt behavior alterations</vt:lpstr>
      <vt:lpstr>Example</vt:lpstr>
      <vt:lpstr>Example</vt:lpstr>
      <vt:lpstr>Example</vt:lpstr>
      <vt:lpstr>Example</vt:lpstr>
      <vt:lpstr>Class exercise 1 (from tutorial)</vt:lpstr>
      <vt:lpstr>Class exercise 2 (from tutorial)</vt:lpstr>
      <vt:lpstr>Class exercise 3 (from tutorial)</vt:lpstr>
      <vt:lpstr>End of lecture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Register Transfer language</dc:title>
  <dc:creator>Microsoft Office User</dc:creator>
  <cp:lastModifiedBy>Milad Ghantous</cp:lastModifiedBy>
  <cp:revision>1143</cp:revision>
  <dcterms:created xsi:type="dcterms:W3CDTF">2021-03-10T08:06:47Z</dcterms:created>
  <dcterms:modified xsi:type="dcterms:W3CDTF">2026-05-04T19:06:58Z</dcterms:modified>
</cp:coreProperties>
</file>